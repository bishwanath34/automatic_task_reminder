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Default ContentType="image/png" Extension="pn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pn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/ppt/media/image9.png" Type="http://schemas.openxmlformats.org/officeDocument/2006/relationships/image"/><Relationship Id="rId10" Target="/ppt/media/image10.png" Type="http://schemas.openxmlformats.org/officeDocument/2006/relationships/image"/><Relationship Id="rId11" Target="/ppt/media/image11.png" Type="http://schemas.openxmlformats.org/officeDocument/2006/relationships/image"/><Relationship Id="rId12" Target="/ppt/media/image12.png" Type="http://schemas.openxmlformats.org/officeDocument/2006/relationships/image"/><Relationship Id="rId13" Target="/ppt/media/image13.png" Type="http://schemas.openxmlformats.org/officeDocument/2006/relationships/image"/><Relationship Id="rId14" Target="ppt/media/img_cc_black.png" Type="http://schemas.openxmlformats.org/officeDocument/2006/relationships/image"/><Relationship Id="rId15" Target="ppt/presentation.xml" Type="http://schemas.openxmlformats.org/officeDocument/2006/relationships/officeDocument"/><Relationship Id="rId16" Target="docProps/core.xml" Type="http://schemas.openxmlformats.org/package/2006/relationships/metadata/core-properties"/><Relationship Id="rId17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 type="custom"/>
  <p:notesSz cx="18288000" cy="10287000"/>
  <p:embeddedFontLst>
    <p:embeddedFont>
      <p:font typeface="Lato"/>
      <p:regular r:id="rId16"/>
    </p:embeddedFont>
    <p:embeddedFont>
      <p:font typeface="Noto Serif"/>
      <p:regular r:id="rId17"/>
      <p:bold r:id="rId18"/>
    </p:embeddedFont>
  </p:embeddedFontLst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tableStyles.xml" Type="http://schemas.openxmlformats.org/officeDocument/2006/relationships/tableStyles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presProps.xml" Type="http://schemas.openxmlformats.org/officeDocument/2006/relationships/presProps"/><Relationship Id="rId20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1F1AE3-C7D9-4068-9AE8-C708A6C7C21B}">
                <a16:creationId xmlns:a16="http://schemas.microsoft.com/office/drawing/2010/main" id="{B74CDCE8-6315-4F99-8C74-7833C17E814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85800" y="2130425"/>
            <a:ext cx="7772400" cy="1470025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BE0DD8B6-38F3-4DD7-9914-D86B99A9C762}">
                <a16:creationId xmlns:a16="http://schemas.microsoft.com/office/drawing/2010/main" id="{99F06133-3102-4909-8A6D-97093C98E37F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71600" y="3886200"/>
            <a:ext cx="6400800" cy="1752600"/>
          </a:xfrm>
        </p:spPr>
        <p:txBody>
          <a:bodyPr rtlCol="0"/>
          <a:lstStyle>
            <a:lvl1pPr algn="ctr" indent="0" lvl="0" marL="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Date Placeholder 3">
            <a:extLst>
              <a:ext uri="{D262F9DC-DC13-493B-9EC8-09782161DB9D}">
                <a16:creationId xmlns:a16="http://schemas.microsoft.com/office/drawing/2010/main" id="{50B206C1-E377-4FE5-A934-8B46117370A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0E1940E7-A554-4D56-9F13-6F62AC824A71}" type="datetime1">
              <a:t>1/28/2026</a:t>
            </a:fld>
            <a:endParaRPr dirty="0" lang="en-US"/>
          </a:p>
        </p:txBody>
      </p:sp>
      <p:sp>
        <p:nvSpPr>
          <p:cNvPr id="5" name="Footer Placeholder 4">
            <a:extLst>
              <a:ext uri="{5025B050-BB26-49F5-8BA9-A2E2E0C8B5AD}">
                <a16:creationId xmlns:a16="http://schemas.microsoft.com/office/drawing/2010/main" id="{257858C3-121E-4DF5-BD56-261AE7015DF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EABDF1CA-B2D0-4426-8327-1971549EA893}">
                <a16:creationId xmlns:a16="http://schemas.microsoft.com/office/drawing/2010/main" id="{ADFD0DD0-A6DF-414A-99AE-A5BDD188A8E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1B398D20-3E48-4EE9-866A-45DAD7474628}" type="slidenum"/>
            <a:endParaRPr dirty="0" lang="en-US"/>
          </a:p>
        </p:txBody>
      </p:sp>
    </p:spTree>
    <p:extLst>
      <p:ext uri="{E41C23E7-3926-4D6B-8F55-BE40FCDE4E5B}">
        <p14:creationId xmlns:p14="http://schemas.microsoft.com/office/powerpoint/2010/main" val="176960980787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9A38A7A-5B8B-4662-A94C-D81EC01F7AEF}">
                <a16:creationId xmlns:a16="http://schemas.microsoft.com/office/drawing/2010/main" id="{2D0EA7D9-F0DD-4E77-83D4-D3D63B10E32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99DA27A8-AB1A-4477-9D3B-3EFD6A3258D2}">
                <a16:creationId xmlns:a16="http://schemas.microsoft.com/office/drawing/2010/main" id="{4E5285E0-F468-44E6-924D-998BB3D8D42B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AC0F1C32-F1D0-4758-931E-A6AF7BF29E74}">
                <a16:creationId xmlns:a16="http://schemas.microsoft.com/office/drawing/2010/main" id="{8B72BA44-A375-47E3-B4CA-AD9E0849E35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805DA922-4973-4DA5-B431-C90A2778E7E6}" type="datetime1">
              <a:t>1/28/2026</a:t>
            </a:fld>
            <a:endParaRPr dirty="0" lang="en-US"/>
          </a:p>
        </p:txBody>
      </p:sp>
      <p:sp>
        <p:nvSpPr>
          <p:cNvPr id="5" name="Footer Placeholder 4">
            <a:extLst>
              <a:ext uri="{AD336B2F-5BFA-4BFF-939D-8A25FB5B10C8}">
                <a16:creationId xmlns:a16="http://schemas.microsoft.com/office/drawing/2010/main" id="{96E31D7C-12BB-4389-B886-E927267C7FF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1D73C374-420C-493D-AC32-D1252AE8BCF7}">
                <a16:creationId xmlns:a16="http://schemas.microsoft.com/office/drawing/2010/main" id="{4F7F127E-0FBC-4649-9B12-041CDBEB6AD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36AF5519-66A9-4C66-87B5-A828996BF907}" type="slidenum"/>
            <a:endParaRPr dirty="0" lang="en-US"/>
          </a:p>
        </p:txBody>
      </p:sp>
    </p:spTree>
    <p:extLst>
      <p:ext uri="{FA3F6E77-5413-4367-88DE-DBA38AED2DBA}">
        <p14:creationId xmlns:p14="http://schemas.microsoft.com/office/powerpoint/2010/main" val="1769609807877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4F7EBF4-D110-44C1-B9DA-0232CB1E0958}">
                <a16:creationId xmlns:a16="http://schemas.microsoft.com/office/drawing/2010/main" id="{8460A503-B66F-41B1-A46C-DC3AD4B03DD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22313" y="4406900"/>
            <a:ext cx="7772400" cy="1362075"/>
          </a:xfrm>
        </p:spPr>
        <p:txBody>
          <a:bodyPr anchor="t" rtlCol="0"/>
          <a:lstStyle>
            <a:lvl1pPr algn="l" lvl="0">
              <a:defRPr b="1" cap="all" dirty="0" lang="en-US" sz="4000">
                <a:latin typeface="+mj-lt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20AFFBC6-D39E-4F12-B391-47CE7A4332AE}">
                <a16:creationId xmlns:a16="http://schemas.microsoft.com/office/drawing/2010/main" id="{7989E8AD-FADC-4465-9C07-E96EE072814F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22313" y="2906713"/>
            <a:ext cx="7772400" cy="1500187"/>
          </a:xfrm>
        </p:spPr>
        <p:txBody>
          <a:bodyPr anchor="b" rtlCol="0"/>
          <a:lstStyle>
            <a:lvl1pPr indent="0" lvl="0" marL="0">
              <a:buNone/>
              <a:defRPr dirty="0" lang="en-US"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Date Placeholder 3">
            <a:extLst>
              <a:ext uri="{4D9B44D7-F477-41FA-AEAA-AE271A26B7D6}">
                <a16:creationId xmlns:a16="http://schemas.microsoft.com/office/drawing/2010/main" id="{D9A563DF-1AA9-4133-8D5F-777E933AA96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3D6ED6ED-2665-42E7-BF51-7BFE6C1D6F8C}" type="datetime1">
              <a:t>1/28/2026</a:t>
            </a:fld>
            <a:endParaRPr dirty="0" lang="en-US"/>
          </a:p>
        </p:txBody>
      </p:sp>
      <p:sp>
        <p:nvSpPr>
          <p:cNvPr id="5" name="Footer Placeholder 4">
            <a:extLst>
              <a:ext uri="{F2AF292F-8AE0-4103-AC8C-01C4E1B8D077}">
                <a16:creationId xmlns:a16="http://schemas.microsoft.com/office/drawing/2010/main" id="{64020C47-4B3A-4715-AC7F-7C5514E50D7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F206A19E-D004-437C-B4EA-498C990A6FE7}">
                <a16:creationId xmlns:a16="http://schemas.microsoft.com/office/drawing/2010/main" id="{4C0808AD-5DC0-42B1-A172-38FB1E6913C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2181A7D1-C17B-4896-B9BB-F5D9925D5387}" type="slidenum"/>
            <a:endParaRPr dirty="0" lang="en-US"/>
          </a:p>
        </p:txBody>
      </p:sp>
    </p:spTree>
    <p:extLst>
      <p:ext uri="{DF0E1FE3-4A26-458D-AD4F-832FD3B23EF4}">
        <p14:creationId xmlns:p14="http://schemas.microsoft.com/office/powerpoint/2010/main" val="1769609807878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688CE3D-75E0-412F-860F-58D07F71F997}">
                <a16:creationId xmlns:a16="http://schemas.microsoft.com/office/drawing/2010/main" id="{CCE8D7E8-596A-4B21-B6F8-5F7ED56F42E3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C5D0FFE8-865A-44CA-81CE-CEDC137BCABF}">
                <a16:creationId xmlns:a16="http://schemas.microsoft.com/office/drawing/2010/main" id="{3CD92A63-DB04-4277-8A2D-3F2328767E5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457200" y="1600200"/>
            <a:ext cx="4038600" cy="4525962"/>
          </a:xfrm>
        </p:spPr>
        <p:txBody>
          <a:bodyPr rtlCol="0"/>
          <a:lstStyle>
            <a:lvl1pPr lvl="0">
              <a:defRPr dirty="0" lang="en-US" sz="2800"/>
            </a:lvl1pPr>
            <a:lvl2pPr lvl="1">
              <a:defRPr dirty="0" lang="en-US" sz="2400"/>
            </a:lvl2pPr>
            <a:lvl3pPr lvl="2">
              <a:defRPr dirty="0" lang="en-US" sz="2000"/>
            </a:lvl3pPr>
            <a:lvl4pPr lvl="3">
              <a:defRPr dirty="0" lang="en-US" sz="1800"/>
            </a:lvl4pPr>
            <a:lvl5pPr lvl="4">
              <a:defRPr dirty="0" lang="en-US" sz="1800"/>
            </a:lvl5pPr>
            <a:lvl6pPr lvl="5">
              <a:defRPr dirty="0" lang="en-US" sz="1800"/>
            </a:lvl6pPr>
            <a:lvl7pPr lvl="6">
              <a:defRPr dirty="0" lang="en-US" sz="1800"/>
            </a:lvl7pPr>
            <a:lvl8pPr lvl="7">
              <a:defRPr dirty="0" lang="en-US" sz="1800"/>
            </a:lvl8pPr>
            <a:lvl9pPr lvl="8">
              <a:defRPr dirty="0" lang="en-US" sz="18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3">
            <a:extLst>
              <a:ext uri="{396369AB-9566-44D2-9C89-7A07677F77A7}">
                <a16:creationId xmlns:a16="http://schemas.microsoft.com/office/drawing/2010/main" id="{206A4E83-A534-455C-AF3A-7EF7DE09E0FA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648200" y="1600200"/>
            <a:ext cx="4038600" cy="4525962"/>
          </a:xfrm>
        </p:spPr>
        <p:txBody>
          <a:bodyPr rtlCol="0"/>
          <a:lstStyle>
            <a:lvl1pPr lvl="0">
              <a:defRPr dirty="0" lang="en-US" sz="2800"/>
            </a:lvl1pPr>
            <a:lvl2pPr lvl="1">
              <a:defRPr dirty="0" lang="en-US" sz="2400"/>
            </a:lvl2pPr>
            <a:lvl3pPr lvl="2">
              <a:defRPr dirty="0" lang="en-US" sz="2000"/>
            </a:lvl3pPr>
            <a:lvl4pPr lvl="3">
              <a:defRPr dirty="0" lang="en-US" sz="1800"/>
            </a:lvl4pPr>
            <a:lvl5pPr lvl="4">
              <a:defRPr dirty="0" lang="en-US" sz="1800"/>
            </a:lvl5pPr>
            <a:lvl6pPr lvl="5">
              <a:defRPr dirty="0" lang="en-US" sz="1800"/>
            </a:lvl6pPr>
            <a:lvl7pPr lvl="6">
              <a:defRPr dirty="0" lang="en-US" sz="1800"/>
            </a:lvl7pPr>
            <a:lvl8pPr lvl="7">
              <a:defRPr dirty="0" lang="en-US" sz="1800"/>
            </a:lvl8pPr>
            <a:lvl9pPr lvl="8">
              <a:defRPr dirty="0" lang="en-US" sz="18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FB7ECA19-8117-4636-991F-5B12C9F2E5C3}">
                <a16:creationId xmlns:a16="http://schemas.microsoft.com/office/drawing/2010/main" id="{75FA79EB-593F-406D-8BFC-2149EB5D26C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84DFBEA6-218A-45C6-BED0-B4E74522BD63}" type="datetime1">
              <a:t>1/28/2026</a:t>
            </a:fld>
            <a:endParaRPr dirty="0" lang="en-US"/>
          </a:p>
        </p:txBody>
      </p:sp>
      <p:sp>
        <p:nvSpPr>
          <p:cNvPr id="6" name="Footer Placeholder 5">
            <a:extLst>
              <a:ext uri="{8C0F66AC-DDD0-4914-AB07-D7E6315060DF}">
                <a16:creationId xmlns:a16="http://schemas.microsoft.com/office/drawing/2010/main" id="{4CF65BA3-AE06-40F9-8D6E-E5D360389D2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0045B6EA-F91B-4B11-AD39-CCA4D99BD6BA}">
                <a16:creationId xmlns:a16="http://schemas.microsoft.com/office/drawing/2010/main" id="{CF6659B0-0E18-4988-8C2E-2728A7F3E62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FDD79190-B68D-42AF-A6D2-310DCAF09463}" type="slidenum"/>
            <a:endParaRPr dirty="0" lang="en-US"/>
          </a:p>
        </p:txBody>
      </p:sp>
    </p:spTree>
    <p:extLst>
      <p:ext uri="{9D181761-9CAF-46E9-AC04-6D773E22B05D}">
        <p14:creationId xmlns:p14="http://schemas.microsoft.com/office/powerpoint/2010/main" val="1769609807879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4FF35B4-86A3-4A5C-B66D-EB1F9DB9D56E}">
                <a16:creationId xmlns:a16="http://schemas.microsoft.com/office/drawing/2010/main" id="{9A9C37F0-95D3-4301-927A-BDB3879D89A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5AB11848-D53E-4CE5-8D1A-9B7D0D3BD333}">
                <a16:creationId xmlns:a16="http://schemas.microsoft.com/office/drawing/2010/main" id="{912C5DF3-3772-4960-92DD-AB9D5C456A7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57200" y="1535113"/>
            <a:ext cx="4040187" cy="63976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3">
            <a:extLst>
              <a:ext uri="{31C5C673-2C9E-4D32-883D-EB17CD7C7D94}">
                <a16:creationId xmlns:a16="http://schemas.microsoft.com/office/drawing/2010/main" id="{5CBA7DFF-0CF5-418B-B498-3F6BCA8D5F6C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57200" y="2174875"/>
            <a:ext cx="4040187" cy="3951288"/>
          </a:xfrm>
        </p:spPr>
        <p:txBody>
          <a:bodyPr rtlCol="0"/>
          <a:lstStyle>
            <a:lvl1pPr lvl="0">
              <a:defRPr dirty="0" lang="en-US" sz="2400"/>
            </a:lvl1pPr>
            <a:lvl2pPr lvl="1">
              <a:defRPr dirty="0" lang="en-US" sz="2000"/>
            </a:lvl2pPr>
            <a:lvl3pPr lvl="2">
              <a:defRPr dirty="0" lang="en-US" sz="1800"/>
            </a:lvl3pPr>
            <a:lvl4pPr lvl="3">
              <a:defRPr dirty="0" lang="en-US" sz="1600"/>
            </a:lvl4pPr>
            <a:lvl5pPr lvl="4">
              <a:defRPr dirty="0" lang="en-US" sz="1600"/>
            </a:lvl5pPr>
            <a:lvl6pPr lvl="5">
              <a:defRPr dirty="0" lang="en-US" sz="1600"/>
            </a:lvl6pPr>
            <a:lvl7pPr lvl="6">
              <a:defRPr dirty="0" lang="en-US" sz="1600"/>
            </a:lvl7pPr>
            <a:lvl8pPr lvl="7">
              <a:defRPr dirty="0" lang="en-US" sz="1600"/>
            </a:lvl8pPr>
            <a:lvl9pPr lvl="8">
              <a:defRPr dirty="0" lang="en-US" sz="16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ext Placeholder 4">
            <a:extLst>
              <a:ext uri="{6371B36E-78E2-4122-B6C8-0452DE63FD37}">
                <a16:creationId xmlns:a16="http://schemas.microsoft.com/office/drawing/2010/main" id="{D23AA8D9-169C-4315-BAF1-6E49F80380B9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4645025" y="1535113"/>
            <a:ext cx="4041774" cy="63976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6" name="Content Placeholder 5">
            <a:extLst>
              <a:ext uri="{ACEEC274-47EF-4F27-A374-F3C6E5A329A3}">
                <a16:creationId xmlns:a16="http://schemas.microsoft.com/office/drawing/2010/main" id="{701BDEDA-E3A4-4105-8208-EAE8282F2A08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645025" y="2174875"/>
            <a:ext cx="4041774" cy="3951288"/>
          </a:xfrm>
        </p:spPr>
        <p:txBody>
          <a:bodyPr rtlCol="0"/>
          <a:lstStyle>
            <a:lvl1pPr lvl="0">
              <a:defRPr dirty="0" lang="en-US" sz="2400"/>
            </a:lvl1pPr>
            <a:lvl2pPr lvl="1">
              <a:defRPr dirty="0" lang="en-US" sz="2000"/>
            </a:lvl2pPr>
            <a:lvl3pPr lvl="2">
              <a:defRPr dirty="0" lang="en-US" sz="1800"/>
            </a:lvl3pPr>
            <a:lvl4pPr lvl="3">
              <a:defRPr dirty="0" lang="en-US" sz="1600"/>
            </a:lvl4pPr>
            <a:lvl5pPr lvl="4">
              <a:defRPr dirty="0" lang="en-US" sz="1600"/>
            </a:lvl5pPr>
            <a:lvl6pPr lvl="5">
              <a:defRPr dirty="0" lang="en-US" sz="1600"/>
            </a:lvl6pPr>
            <a:lvl7pPr lvl="6">
              <a:defRPr dirty="0" lang="en-US" sz="1600"/>
            </a:lvl7pPr>
            <a:lvl8pPr lvl="7">
              <a:defRPr dirty="0" lang="en-US" sz="1600"/>
            </a:lvl8pPr>
            <a:lvl9pPr lvl="8">
              <a:defRPr dirty="0" lang="en-US" sz="16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6">
            <a:extLst>
              <a:ext uri="{8486C4C1-446A-49D6-AA3A-A563A68D3E48}">
                <a16:creationId xmlns:a16="http://schemas.microsoft.com/office/drawing/2010/main" id="{FD6FAE5E-447C-4494-90E0-9752F7719E9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6BEC086A-C704-48A1-9E24-2D7953CC3C77}" type="datetime1">
              <a:t>1/28/2026</a:t>
            </a:fld>
            <a:endParaRPr dirty="0" lang="en-US"/>
          </a:p>
        </p:txBody>
      </p:sp>
      <p:sp>
        <p:nvSpPr>
          <p:cNvPr id="8" name="Footer Placeholder 7">
            <a:extLst>
              <a:ext uri="{AB8DC477-99BF-4DC3-9F60-67FC59C31ED3}">
                <a16:creationId xmlns:a16="http://schemas.microsoft.com/office/drawing/2010/main" id="{F329C564-BA42-4C3C-88C4-8B67632FAAA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lide Number Placeholder 8">
            <a:extLst>
              <a:ext uri="{ED852C29-D71B-41B6-9320-F238BD3FD79E}">
                <a16:creationId xmlns:a16="http://schemas.microsoft.com/office/drawing/2010/main" id="{2C31D3C2-E46A-4D9A-96CB-5727A5F4870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B74F2C7C-69F8-4206-A45C-D25567E7A5A3}" type="slidenum"/>
            <a:endParaRPr dirty="0" lang="en-US"/>
          </a:p>
        </p:txBody>
      </p:sp>
    </p:spTree>
    <p:extLst>
      <p:ext uri="{0BD64493-FEDE-4889-A686-061852962B60}">
        <p14:creationId xmlns:p14="http://schemas.microsoft.com/office/powerpoint/2010/main" val="176960980788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394D3A6-51EE-4DA8-BC3E-F449B07467A4}">
                <a16:creationId xmlns:a16="http://schemas.microsoft.com/office/drawing/2010/main" id="{77E0604E-15E7-4105-B127-B2EDB159C32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Date Placeholder 2">
            <a:extLst>
              <a:ext uri="{7AE50F6B-1087-40A2-A162-1359C9CA1FC8}">
                <a16:creationId xmlns:a16="http://schemas.microsoft.com/office/drawing/2010/main" id="{327144D9-B80C-4D4E-BB65-6A20FAB945C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D0A680D4-24E0-478B-BD25-A16A81E11FB5}" type="datetime1">
              <a:t>1/28/2026</a:t>
            </a:fld>
            <a:endParaRPr dirty="0" lang="en-US"/>
          </a:p>
        </p:txBody>
      </p:sp>
      <p:sp>
        <p:nvSpPr>
          <p:cNvPr id="4" name="Footer Placeholder 3">
            <a:extLst>
              <a:ext uri="{DABE1F3C-9CCD-41D8-A72B-81217872850B}">
                <a16:creationId xmlns:a16="http://schemas.microsoft.com/office/drawing/2010/main" id="{1ED6A041-A61A-4698-8F06-BCD2C828F93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Slide Number Placeholder 4">
            <a:extLst>
              <a:ext uri="{11639529-D497-49DF-A558-F6B4D629D3A4}">
                <a16:creationId xmlns:a16="http://schemas.microsoft.com/office/drawing/2010/main" id="{8371E828-4C3A-49FB-9799-23B22E9E5EA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1F051AA9-982E-4B52-BF66-100C23511F12}" type="slidenum"/>
            <a:endParaRPr dirty="0" lang="en-US"/>
          </a:p>
        </p:txBody>
      </p:sp>
    </p:spTree>
    <p:extLst>
      <p:ext uri="{582DB059-A02F-48F0-B940-898AAE24C296}">
        <p14:creationId xmlns:p14="http://schemas.microsoft.com/office/powerpoint/2010/main" val="1769609807882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B971BCE6-404D-42A5-8D35-BD24E40AB336}">
                <a16:creationId xmlns:a16="http://schemas.microsoft.com/office/drawing/2010/main" id="{C7DA6CC4-ACBF-4DD2-A885-29EA3883272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7FEBDE3-02A2-4683-BC5D-292EF9475747}" type="datetime1">
              <a:t>1/28/2026</a:t>
            </a:fld>
            <a:endParaRPr dirty="0" lang="en-US"/>
          </a:p>
        </p:txBody>
      </p:sp>
      <p:sp>
        <p:nvSpPr>
          <p:cNvPr id="3" name="Footer Placeholder 2">
            <a:extLst>
              <a:ext uri="{9EF4E10B-BB94-4557-A00D-2B340A43A741}">
                <a16:creationId xmlns:a16="http://schemas.microsoft.com/office/drawing/2010/main" id="{27CB113B-4431-4EA5-AD32-66D01C24CCE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Slide Number Placeholder 3">
            <a:extLst>
              <a:ext uri="{0155BE31-AA68-4F12-AE6A-99C16D3189EA}">
                <a16:creationId xmlns:a16="http://schemas.microsoft.com/office/drawing/2010/main" id="{3BD4C49A-6F60-4587-9FFE-A9E58445F14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BDDB1D27-7E2E-446C-B7AB-510C4B82B2A8}" type="slidenum"/>
            <a:endParaRPr dirty="0" lang="en-US"/>
          </a:p>
        </p:txBody>
      </p:sp>
    </p:spTree>
    <p:extLst>
      <p:ext uri="{FAB31442-0E64-4E8B-8B82-22CF0AE64C4A}">
        <p14:creationId xmlns:p14="http://schemas.microsoft.com/office/powerpoint/2010/main" val="1769609807883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9C26746-FDB4-4A67-9CFC-C7361C1F7E6B}">
                <a16:creationId xmlns:a16="http://schemas.microsoft.com/office/drawing/2010/main" id="{73CC033E-DE60-4A12-ABAA-E9524376240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457200" y="273050"/>
            <a:ext cx="3008313" cy="1162050"/>
          </a:xfrm>
        </p:spPr>
        <p:txBody>
          <a:bodyPr anchor="b" rtlCol="0"/>
          <a:lstStyle>
            <a:lvl1pPr algn="l" lvl="0">
              <a:defRPr b="1" dirty="0" lang="en-US" sz="2000">
                <a:latin typeface="+mj-lt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D8CBC742-AFE8-46E0-9D97-964DAE9FAF0A}">
                <a16:creationId xmlns:a16="http://schemas.microsoft.com/office/drawing/2010/main" id="{F1DCBA74-A6C1-4A41-AC1B-179224471A72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3575050" y="273050"/>
            <a:ext cx="5111749" cy="5853112"/>
          </a:xfrm>
        </p:spPr>
        <p:txBody>
          <a:bodyPr rtlCol="0"/>
          <a:lstStyle>
            <a:lvl1pPr lvl="0">
              <a:defRPr dirty="0" lang="en-US" sz="3200"/>
            </a:lvl1pPr>
            <a:lvl2pPr lvl="1">
              <a:defRPr dirty="0" lang="en-US" sz="2800"/>
            </a:lvl2pPr>
            <a:lvl3pPr lvl="2">
              <a:defRPr dirty="0" lang="en-US" sz="2400"/>
            </a:lvl3pPr>
            <a:lvl4pPr lvl="3">
              <a:defRPr dirty="0" lang="en-US" sz="2000"/>
            </a:lvl4pPr>
            <a:lvl5pPr lvl="4">
              <a:defRPr dirty="0" lang="en-US" sz="2000"/>
            </a:lvl5pPr>
            <a:lvl6pPr lvl="5">
              <a:defRPr dirty="0" lang="en-US" sz="2000"/>
            </a:lvl6pPr>
            <a:lvl7pPr lvl="6">
              <a:defRPr dirty="0" lang="en-US" sz="2000"/>
            </a:lvl7pPr>
            <a:lvl8pPr lvl="7">
              <a:defRPr dirty="0" lang="en-US" sz="2000"/>
            </a:lvl8pPr>
            <a:lvl9pPr lvl="8">
              <a:defRPr dirty="0" lang="en-US" sz="20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Text Placeholder 3">
            <a:extLst>
              <a:ext uri="{1C838C2F-244E-4A86-9051-76C511C0E27C}">
                <a16:creationId xmlns:a16="http://schemas.microsoft.com/office/drawing/2010/main" id="{66305197-02FC-4CDC-8DA0-99F67C4DE233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457200" y="1435099"/>
            <a:ext cx="3008313" cy="4691063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1200"/>
            </a:lvl2pPr>
            <a:lvl3pPr indent="0" lvl="2" marL="914400">
              <a:buNone/>
              <a:defRPr dirty="0" lang="en-US" sz="1000"/>
            </a:lvl3pPr>
            <a:lvl4pPr indent="0" lvl="3" marL="1371600">
              <a:buNone/>
              <a:defRPr dirty="0" lang="en-US" sz="900"/>
            </a:lvl4pPr>
            <a:lvl5pPr indent="0" lvl="4" marL="1828800">
              <a:buNone/>
              <a:defRPr dirty="0" lang="en-US" sz="900"/>
            </a:lvl5pPr>
            <a:lvl6pPr indent="0" lvl="5" marL="2286000">
              <a:buNone/>
              <a:defRPr dirty="0" lang="en-US" sz="900"/>
            </a:lvl6pPr>
            <a:lvl7pPr indent="0" lvl="6" marL="2743200">
              <a:buNone/>
              <a:defRPr dirty="0" lang="en-US" sz="900"/>
            </a:lvl7pPr>
            <a:lvl8pPr indent="0" lvl="7" marL="3200400">
              <a:buNone/>
              <a:defRPr dirty="0" lang="en-US" sz="900"/>
            </a:lvl8pPr>
            <a:lvl9pPr indent="0" lvl="8" marL="3657600">
              <a:buNone/>
              <a:defRPr dirty="0" lang="en-US" sz="9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7DBF3696-24DC-44E3-A071-F16E555FBD01}">
                <a16:creationId xmlns:a16="http://schemas.microsoft.com/office/drawing/2010/main" id="{DD5511CB-9E6A-4F86-9A8F-5FEDD690C32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6D32A726-FCF8-44A7-88B4-3ABED935017C}" type="datetime1">
              <a:t>1/28/2026</a:t>
            </a:fld>
            <a:endParaRPr dirty="0" lang="en-US"/>
          </a:p>
        </p:txBody>
      </p:sp>
      <p:sp>
        <p:nvSpPr>
          <p:cNvPr id="6" name="Footer Placeholder 5">
            <a:extLst>
              <a:ext uri="{9789E350-6FA0-4DF3-8249-31ED1F30B64F}">
                <a16:creationId xmlns:a16="http://schemas.microsoft.com/office/drawing/2010/main" id="{4F794BCC-0890-4050-A54B-0DE6AD7D41D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C10CE260-EE65-4DB1-8AC2-BF116A3BE6ED}">
                <a16:creationId xmlns:a16="http://schemas.microsoft.com/office/drawing/2010/main" id="{BEC64904-4469-402C-957B-79F66E13A28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74D368C-64BB-47B9-8E50-BF98758CA508}" type="slidenum"/>
            <a:endParaRPr dirty="0" lang="en-US"/>
          </a:p>
        </p:txBody>
      </p:sp>
    </p:spTree>
    <p:extLst>
      <p:ext uri="{EF878A82-1077-4FE7-8B5A-4D434E4AB513}">
        <p14:creationId xmlns:p14="http://schemas.microsoft.com/office/powerpoint/2010/main" val="1769609807884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B2A0803-515D-4E15-9F1F-C85A95A8EEFA}">
                <a16:creationId xmlns:a16="http://schemas.microsoft.com/office/drawing/2010/main" id="{4435A0A5-5FA9-4A3A-88D7-5BE51448F20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792288" y="4800600"/>
            <a:ext cx="5486400" cy="566738"/>
          </a:xfrm>
        </p:spPr>
        <p:txBody>
          <a:bodyPr anchor="b" rtlCol="0"/>
          <a:lstStyle>
            <a:lvl1pPr algn="l" lvl="0">
              <a:defRPr b="1" dirty="0" lang="en-US" sz="2000">
                <a:latin typeface="+mj-lt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1E8FB0E4-35B0-4409-BF96-B1EF8E49948F}">
                <a16:creationId xmlns:a16="http://schemas.microsoft.com/office/drawing/2010/main" id="{78EEF972-FF8B-426E-80E3-C3FE59B51054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1792288" y="612775"/>
            <a:ext cx="5486400" cy="4114800"/>
          </a:xfrm>
        </p:spPr>
        <p:txBody>
          <a:bodyPr rtlCol="0"/>
          <a:lstStyle>
            <a:lvl1pPr indent="0" lvl="0" marL="0">
              <a:buNone/>
              <a:defRPr dirty="0" lang="en-US" sz="3200"/>
            </a:lvl1pPr>
            <a:lvl2pPr indent="0" lvl="1" marL="457200">
              <a:buNone/>
              <a:defRPr dirty="0" lang="en-US" sz="2800"/>
            </a:lvl2pPr>
            <a:lvl3pPr indent="0" lvl="2" marL="914400">
              <a:buNone/>
              <a:defRPr dirty="0" lang="en-US" sz="24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  <a:lvl6pPr indent="0" lvl="5" marL="2286000">
              <a:buNone/>
              <a:defRPr dirty="0" lang="en-US" sz="2000"/>
            </a:lvl6pPr>
            <a:lvl7pPr indent="0" lvl="6" marL="2743200">
              <a:buNone/>
              <a:defRPr dirty="0" lang="en-US" sz="2000"/>
            </a:lvl7pPr>
            <a:lvl8pPr indent="0" lvl="7" marL="3200400">
              <a:buNone/>
              <a:defRPr dirty="0" lang="en-US" sz="2000"/>
            </a:lvl8pPr>
            <a:lvl9pPr indent="0" lvl="8" marL="3657600">
              <a:buNone/>
              <a:defRPr dirty="0" lang="en-US" sz="2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 Placeholder 3">
            <a:extLst>
              <a:ext uri="{8EEF16D3-2150-420A-B0CE-C812ABD1489E}">
                <a16:creationId xmlns:a16="http://schemas.microsoft.com/office/drawing/2010/main" id="{1166AC7D-9506-4EEA-9AD0-93CE6E7DC6E0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1792288" y="5367337"/>
            <a:ext cx="5486400" cy="804862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1200"/>
            </a:lvl2pPr>
            <a:lvl3pPr indent="0" lvl="2" marL="914400">
              <a:buNone/>
              <a:defRPr dirty="0" lang="en-US" sz="1000"/>
            </a:lvl3pPr>
            <a:lvl4pPr indent="0" lvl="3" marL="1371600">
              <a:buNone/>
              <a:defRPr dirty="0" lang="en-US" sz="900"/>
            </a:lvl4pPr>
            <a:lvl5pPr indent="0" lvl="4" marL="1828800">
              <a:buNone/>
              <a:defRPr dirty="0" lang="en-US" sz="900"/>
            </a:lvl5pPr>
            <a:lvl6pPr indent="0" lvl="5" marL="2286000">
              <a:buNone/>
              <a:defRPr dirty="0" lang="en-US" sz="900"/>
            </a:lvl6pPr>
            <a:lvl7pPr indent="0" lvl="6" marL="2743200">
              <a:buNone/>
              <a:defRPr dirty="0" lang="en-US" sz="900"/>
            </a:lvl7pPr>
            <a:lvl8pPr indent="0" lvl="7" marL="3200400">
              <a:buNone/>
              <a:defRPr dirty="0" lang="en-US" sz="900"/>
            </a:lvl8pPr>
            <a:lvl9pPr indent="0" lvl="8" marL="3657600">
              <a:buNone/>
              <a:defRPr dirty="0" lang="en-US" sz="9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B68E51A3-78C1-4348-8CD7-DB34E0507F76}">
                <a16:creationId xmlns:a16="http://schemas.microsoft.com/office/drawing/2010/main" id="{72476BA9-08D2-43A6-BF40-54D7B89D8F5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6C465B53-EAC3-4FB8-BC6A-BC026B8DDB45}" type="datetime1">
              <a:t>1/28/2026</a:t>
            </a:fld>
            <a:endParaRPr dirty="0" lang="en-US"/>
          </a:p>
        </p:txBody>
      </p:sp>
      <p:sp>
        <p:nvSpPr>
          <p:cNvPr id="6" name="Footer Placeholder 5">
            <a:extLst>
              <a:ext uri="{E86469DA-DA99-453D-B936-2FFA29B3038E}">
                <a16:creationId xmlns:a16="http://schemas.microsoft.com/office/drawing/2010/main" id="{8ED7E780-F8F5-436D-8F6D-0EE96D9DA95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73DDB17A-1CAE-4BD4-9C77-929399A13651}">
                <a16:creationId xmlns:a16="http://schemas.microsoft.com/office/drawing/2010/main" id="{7420F7CB-1662-4706-BE60-EA5EBF0E889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D766C9D7-3D5D-4BAF-9B79-0221F820EA3D}" type="slidenum"/>
            <a:endParaRPr dirty="0" lang="en-US"/>
          </a:p>
        </p:txBody>
      </p:sp>
    </p:spTree>
    <p:extLst>
      <p:ext uri="{227DB887-93BF-4377-9F73-2852456DA563}">
        <p14:creationId xmlns:p14="http://schemas.microsoft.com/office/powerpoint/2010/main" val="1769609807886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B5AD9D6-BE91-472F-980B-304F763B5EF3}">
                <a16:creationId xmlns:a16="http://schemas.microsoft.com/office/drawing/2010/main" id="{1495AD00-21F3-4C79-AD7F-E8C31592C72B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B932E66F-093D-4130-8720-99BB078F12F7}">
                <a16:creationId xmlns:a16="http://schemas.microsoft.com/office/drawing/2010/main" id="{C724A280-DD26-48AB-81F7-E21FEC701AAE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37CFB5C4-19D2-4CFD-9F30-41E6589491FF}">
                <a16:creationId xmlns:a16="http://schemas.microsoft.com/office/drawing/2010/main" id="{1ED121B4-C973-4DAB-9F51-88CDD6EB6EF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226EF09E-0DF2-4821-9C0F-E5B4CDC4DF59}" type="datetime1">
              <a:t>1/28/2026</a:t>
            </a:fld>
            <a:endParaRPr dirty="0" lang="en-US"/>
          </a:p>
        </p:txBody>
      </p:sp>
      <p:sp>
        <p:nvSpPr>
          <p:cNvPr id="5" name="Footer Placeholder 4">
            <a:extLst>
              <a:ext uri="{D24AB001-030E-4186-9955-541D0DEE92D0}">
                <a16:creationId xmlns:a16="http://schemas.microsoft.com/office/drawing/2010/main" id="{95804E5D-5434-429E-8C63-1D5F07FC9B6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889A8AAB-EFDE-4CF9-8EB0-4BCD0A214B52}">
                <a16:creationId xmlns:a16="http://schemas.microsoft.com/office/drawing/2010/main" id="{3902F9C8-AF2C-4D77-8A10-43C627A2C3B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8CBD24B2-DC90-4A3F-B772-D12BE5F47DE2}" type="slidenum"/>
            <a:endParaRPr dirty="0" lang="en-US"/>
          </a:p>
        </p:txBody>
      </p:sp>
    </p:spTree>
    <p:extLst>
      <p:ext uri="{171CED83-5296-4F50-8210-C7241F16CD43}">
        <p14:creationId xmlns:p14="http://schemas.microsoft.com/office/powerpoint/2010/main" val="1769609807887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CC8931D0-C37E-4826-A5F7-355514207CE6}">
                <a16:creationId xmlns:a16="http://schemas.microsoft.com/office/drawing/2010/main" id="{F2841CE2-4CAF-454B-AD9A-72337CB8F1D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629400" y="274638"/>
            <a:ext cx="2057400" cy="5851524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8BA7283B-3993-493C-810A-EE68CEF5D2C5}">
                <a16:creationId xmlns:a16="http://schemas.microsoft.com/office/drawing/2010/main" id="{D3C8AEF6-9192-4385-ABAC-07F924423AF2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57200" y="274638"/>
            <a:ext cx="6019800" cy="5851524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EE570FBD-B247-4EF6-882A-84F4ABC1AC4D}">
                <a16:creationId xmlns:a16="http://schemas.microsoft.com/office/drawing/2010/main" id="{CA927C21-2FC5-43F8-BA14-9A2DD7B2C03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3DE362A4-E71E-47E4-99B1-F74209B0B6D2}" type="datetime1">
              <a:t>1/28/2026</a:t>
            </a:fld>
            <a:endParaRPr dirty="0" lang="en-US"/>
          </a:p>
        </p:txBody>
      </p:sp>
      <p:sp>
        <p:nvSpPr>
          <p:cNvPr id="5" name="Footer Placeholder 4">
            <a:extLst>
              <a:ext uri="{0C6691E9-EACC-4CF0-AB5C-A05130F084F8}">
                <a16:creationId xmlns:a16="http://schemas.microsoft.com/office/drawing/2010/main" id="{6811485A-40BB-43B9-AA76-D1E30EB4EA4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CB1F6BE4-D8A4-4CAE-BE10-3FD1385A7F51}">
                <a16:creationId xmlns:a16="http://schemas.microsoft.com/office/drawing/2010/main" id="{88D60884-8C69-4A28-995A-31DBF9515ED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C894651-8631-4F4D-8FA1-E7071B982F13}" type="slidenum"/>
            <a:endParaRPr dirty="0" lang="en-US"/>
          </a:p>
        </p:txBody>
      </p:sp>
    </p:spTree>
    <p:extLst>
      <p:ext uri="{F0ABA121-EA53-4F6D-BF4E-5EDB6554F4FD}">
        <p14:creationId xmlns:p14="http://schemas.microsoft.com/office/powerpoint/2010/main" val="1769609807888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E20B7964-B3DC-4137-A348-4ACDC94971C2}">
                <a16:creationId xmlns:a16="http://schemas.microsoft.com/office/drawing/2010/main" id="{5CB85C48-B6A6-4C71-A489-6BB11C7F404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8FF3E49C-0644-413C-8AE6-47ADCDF15191}">
                <a16:creationId xmlns:a16="http://schemas.microsoft.com/office/drawing/2010/main" id="{2CC96F73-07A5-4706-B180-11D2E6CBF24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57200" y="1600200"/>
            <a:ext cx="8229600" cy="452596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3615752-DDBE-40A0-89F8-23F886C0611D}">
                <a16:creationId xmlns:a16="http://schemas.microsoft.com/office/drawing/2010/main" id="{05B7DCAE-CC9C-4D78-AE2B-6F2C63905935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 lvl="0">
              <a:defRPr dirty="0"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6C8552C-D064-42A1-99EE-1EF4E3F1AA01}" type="datetime1">
              <a:t>1/28/2026</a:t>
            </a:fld>
            <a:endParaRPr dirty="0" lang="en-US"/>
          </a:p>
        </p:txBody>
      </p:sp>
      <p:sp>
        <p:nvSpPr>
          <p:cNvPr id="5" name="Footer Placeholder 4">
            <a:extLst>
              <a:ext uri="{E4555FF9-0285-4445-9159-8541E99CF760}">
                <a16:creationId xmlns:a16="http://schemas.microsoft.com/office/drawing/2010/main" id="{CD88AFDD-1DAE-4AEB-A001-BC493FE15A1B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 lvl="0">
              <a:defRPr dirty="0"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AF0D3E30-D27D-4D47-9888-710C5B55C4C2}">
                <a16:creationId xmlns:a16="http://schemas.microsoft.com/office/drawing/2010/main" id="{BD9754B3-4547-4514-A83B-0CED70EA25E3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564BEEE-C0EF-47DA-ACB1-6CA584A24897}" type="slidenum"/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lvl="0" rtl="false">
        <a:spcBef>
          <a:spcPct val="0"/>
        </a:spcBef>
        <a:buNone/>
        <a:defRPr dirty="0" lang="en-US" sz="44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ct val="20000"/>
        </a:spcBef>
        <a:buChar char="•"/>
        <a:buFont typeface="Arial"/>
        <a:defRPr dirty="0" lang="en-US" sz="32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ct val="20000"/>
        </a:spcBef>
        <a:buChar char="–"/>
        <a:buFont typeface="Arial"/>
        <a:defRPr dirty="0" lang="en-US" sz="2800">
          <a:solidFill>
            <a:schemeClr val="tx1"/>
          </a:solidFill>
          <a:latin typeface="+mn-lt"/>
        </a:defRPr>
      </a:lvl2pPr>
      <a:lvl3pPr algn="l" indent="-228600" lvl="2" marL="1143000" rtl="false">
        <a:spcBef>
          <a:spcPct val="20000"/>
        </a:spcBef>
        <a:buChar char="•"/>
        <a:buFont typeface="Arial"/>
        <a:defRPr dirty="0" lang="en-US" sz="2400">
          <a:solidFill>
            <a:schemeClr val="tx1"/>
          </a:solidFill>
          <a:latin typeface="+mn-lt"/>
        </a:defRPr>
      </a:lvl3pPr>
      <a:lvl4pPr algn="l" indent="-228600" lvl="3" marL="1600200" rtl="false">
        <a:spcBef>
          <a:spcPct val="20000"/>
        </a:spcBef>
        <a:buChar char="–"/>
        <a:buFont typeface="Arial"/>
        <a:defRPr dirty="0" lang="en-US" sz="2000">
          <a:solidFill>
            <a:schemeClr val="tx1"/>
          </a:solidFill>
          <a:latin typeface="+mn-lt"/>
        </a:defRPr>
      </a:lvl4pPr>
      <a:lvl5pPr algn="l" indent="-228600" lvl="4" marL="2057400" rtl="false">
        <a:spcBef>
          <a:spcPct val="20000"/>
        </a:spcBef>
        <a:buChar char="»"/>
        <a:buFont typeface="Arial"/>
        <a:defRPr dirty="0" lang="en-US" sz="2000">
          <a:solidFill>
            <a:schemeClr val="tx1"/>
          </a:solidFill>
          <a:latin typeface="+mn-lt"/>
        </a:defRPr>
      </a:lvl5pPr>
      <a:lvl6pPr algn="l" indent="-228600" lvl="5" marL="2514600" rtl="false">
        <a:spcBef>
          <a:spcPct val="200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6pPr>
      <a:lvl7pPr algn="l" indent="-228600" lvl="6" marL="2971800" rtl="false">
        <a:spcBef>
          <a:spcPct val="200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7pPr>
      <a:lvl8pPr algn="l" indent="-228600" lvl="7" marL="3429000" rtl="false">
        <a:spcBef>
          <a:spcPct val="200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8pPr>
      <a:lvl9pPr algn="l" indent="-228600" lvl="8" marL="3886200" rtl="false">
        <a:spcBef>
          <a:spcPct val="200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../media/image7.png" Type="http://schemas.openxmlformats.org/officeDocument/2006/relationships/image"/><Relationship Id="rId3" Target="../media/image13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2" Target="https://gamma.app/?utm_source=made-with-gamma" TargetMode="External" Type="http://schemas.openxmlformats.org/officeDocument/2006/relationships/hyperlink"/><Relationship Id="rId3" Target="../media/image8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2" Target="../media/image9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2" Target="../media/image10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C82037E-9004-4A6B-9203-0AA4F7BEB692}">
                <a16:creationId xmlns:a16="http://schemas.microsoft.com/office/drawing/2010/main" id="{26C1052C-3AA2-463A-AF2C-236D6605226A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C7ED3371-B298-417B-BA55-1E452D29C8E2}">
                  <a16:creationId xmlns:a16="http://schemas.microsoft.com/office/drawing/2010/main" id="{70922DCF-D829-460D-A870-67DD93A3DFAF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6C0F1253-3218-4BCB-AFDC-194692BA793C}">
                <a16:creationId xmlns:a16="http://schemas.microsoft.com/office/drawing/2010/main" id="{9E16A648-5196-4EBE-AB74-6E45917D315E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E43D776C-70E6-4A8E-BB9D-B19921E93E3B}">
                  <a16:creationId xmlns:a16="http://schemas.microsoft.com/office/drawing/2010/main" id="{D4859B8C-97C2-4A00-B78A-9AA7244AB0B3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6" name="Freeform 6">
            <a:extLst>
              <a:ext uri="{7AD29DD0-0141-4587-8BF5-D98514278C6C}">
                <a16:creationId xmlns:a16="http://schemas.microsoft.com/office/drawing/2010/main" id="{8013BEC5-8C58-4E55-B07F-EEF123FF2EE8}"/>
              </a:ext>
            </a:extLst>
          </p:cNvPr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b="b" l="0" r="r" t="0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 b="0" l="0" r="0" t="0"/>
            </a:stretch>
          </a:blipFill>
        </p:spPr>
      </p:sp>
      <p:sp>
        <p:nvSpPr>
          <p:cNvPr id="7" name="TextBox 7">
            <a:extLst>
              <a:ext uri="{425232C6-9ACC-40A1-B3E5-BBC312823CE0}">
                <a16:creationId xmlns:a16="http://schemas.microsoft.com/office/drawing/2010/main" id="{E41EAF99-82FA-49A6-B795-5E3228760A8B}"/>
              </a:ext>
            </a:extLst>
          </p:cNvPr>
          <p:cNvSpPr txBox="1"/>
          <p:nvPr/>
        </p:nvSpPr>
        <p:spPr>
          <a:xfrm rot="0">
            <a:off x="7850238" y="3636321"/>
            <a:ext cx="9445522" cy="1559719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6062"/>
              </a:lnSpc>
            </a:pPr>
            <a:r>
              <a:rPr dirty="0" lang="en-US" sz="4875">
                <a:solidFill>
                  <a:srgbClr val="3a3a3a"/>
                </a:solidFill>
                <a:latin typeface="Noto Serif"/>
              </a:rPr>
              <a:t>Automated Task Reminder and Tracking Application</a:t>
            </a:r>
            <a:endParaRPr dirty="0" lang="en-US" sz="4875">
              <a:solidFill>
                <a:srgbClr val="3a3a3a"/>
              </a:solidFill>
              <a:latin typeface="Noto Serif"/>
            </a:endParaRPr>
          </a:p>
        </p:txBody>
      </p:sp>
      <p:sp>
        <p:nvSpPr>
          <p:cNvPr id="8" name="TextBox 8">
            <a:extLst>
              <a:ext uri="{324C8521-A2CE-4041-A251-20392230A9DD}">
                <a16:creationId xmlns:a16="http://schemas.microsoft.com/office/drawing/2010/main" id="{2E6BBA42-5836-4A55-BA27-571FD5E8201C}"/>
              </a:ext>
            </a:extLst>
          </p:cNvPr>
          <p:cNvSpPr txBox="1"/>
          <p:nvPr/>
        </p:nvSpPr>
        <p:spPr>
          <a:xfrm rot="0">
            <a:off x="7850238" y="5482380"/>
            <a:ext cx="9445522" cy="39687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6f7f71"/>
                </a:solidFill>
                <a:latin typeface="Noto Serif"/>
              </a:rPr>
              <a:t>Presented by:</a:t>
            </a:r>
            <a:r>
              <a:rPr dirty="0" lang="en-US" sz="1937">
                <a:solidFill>
                  <a:srgbClr val="4c4c4c"/>
                </a:solidFill>
                <a:latin typeface="Noto Serif"/>
              </a:rPr>
              <a:t> Bishwanath </a:t>
            </a:r>
            <a:r>
              <a:rPr dirty="0" err="1" lang="en-US" sz="1937">
                <a:solidFill>
                  <a:srgbClr val="4c4c4c"/>
                </a:solidFill>
                <a:latin typeface="Noto Serif"/>
              </a:rPr>
              <a:t>Kumam</a:t>
            </a:r>
            <a:endParaRPr dirty="0" err="1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9" name="TextBox 9">
            <a:extLst>
              <a:ext uri="{5CCB4F91-7B73-45FF-AC1F-57112F2A5195}">
                <a16:creationId xmlns:a16="http://schemas.microsoft.com/office/drawing/2010/main" id="{2B39C6E7-30E5-49B1-9E0E-0A0C388E6917}"/>
              </a:ext>
            </a:extLst>
          </p:cNvPr>
          <p:cNvSpPr txBox="1"/>
          <p:nvPr/>
        </p:nvSpPr>
        <p:spPr>
          <a:xfrm rot="0">
            <a:off x="7850238" y="6158360"/>
            <a:ext cx="9445522" cy="39687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6f7f71"/>
                </a:solidFill>
                <a:latin typeface="Noto Serif"/>
              </a:rPr>
              <a:t>Institution:</a:t>
            </a:r>
            <a:r>
              <a:rPr dirty="0" lang="en-US" sz="1937">
                <a:solidFill>
                  <a:srgbClr val="4c4c4c"/>
                </a:solidFill>
                <a:latin typeface="Noto Serif"/>
              </a:rPr>
              <a:t> Amity University</a:t>
            </a:r>
            <a:r>
              <a:rPr dirty="0" lang="en-US" sz="1937">
                <a:solidFill>
                  <a:srgbClr val="4c4c4c"/>
                </a:solidFill>
                <a:latin typeface="Noto Serif"/>
              </a:rPr>
              <a:t> | </a:t>
            </a:r>
            <a:r>
              <a:rPr dirty="0" lang="en-US" sz="1937">
                <a:solidFill>
                  <a:srgbClr val="6f7f71"/>
                </a:solidFill>
                <a:latin typeface="Noto Serif"/>
              </a:rPr>
              <a:t>Department:</a:t>
            </a:r>
            <a:r>
              <a:rPr dirty="0" lang="en-US" sz="1937">
                <a:solidFill>
                  <a:srgbClr val="4c4c4c"/>
                </a:solidFill>
                <a:latin typeface="Noto Serif"/>
              </a:rPr>
              <a:t> </a:t>
            </a:r>
            <a:r>
              <a:rPr dirty="0" err="1" lang="en-US" sz="1937">
                <a:solidFill>
                  <a:srgbClr val="4c4c4c"/>
                </a:solidFill>
                <a:latin typeface="Noto Serif"/>
              </a:rPr>
              <a:t>Btech</a:t>
            </a:r>
            <a:r>
              <a:rPr dirty="0" lang="en-US" sz="1937">
                <a:solidFill>
                  <a:srgbClr val="4c4c4c"/>
                </a:solidFill>
                <a:latin typeface="Noto Serif"/>
              </a:rPr>
              <a:t> </a:t>
            </a:r>
            <a:r>
              <a:rPr dirty="0" err="1" lang="en-US" sz="1937">
                <a:solidFill>
                  <a:srgbClr val="4c4c4c"/>
                </a:solidFill>
                <a:latin typeface="Noto Serif"/>
              </a:rPr>
              <a:t>cse</a:t>
            </a:r>
            <a:endParaRPr dirty="0" err="1" lang="en-US" sz="1937">
              <a:solidFill>
                <a:srgbClr val="4c4c4c"/>
              </a:solidFill>
              <a:latin typeface="Noto Serif"/>
            </a:endParaRPr>
          </a:p>
        </p:txBody>
      </p:sp>
    </p:spTree>
    <p:extLst>
      <p:ext uri="{19C4BC24-E816-4687-A737-1C41D0A4722A}">
        <p14:creationId xmlns:p14="http://schemas.microsoft.com/office/powerpoint/2010/main" val="1769609807892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2BCC012C-0CAA-4DA2-A1A5-5A6BA6EC5E38}">
                <a16:creationId xmlns:a16="http://schemas.microsoft.com/office/drawing/2010/main" id="{19EDF4F4-9A33-43A2-AF9C-EBF463AB9034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D8132E84-41BA-4193-8BF4-70A63327001C}">
                  <a16:creationId xmlns:a16="http://schemas.microsoft.com/office/drawing/2010/main" id="{4FD73509-0985-42B9-BE1F-A4600829D885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096DF9A0-C21E-4D5A-953E-2B6FE25E7112}">
                <a16:creationId xmlns:a16="http://schemas.microsoft.com/office/drawing/2010/main" id="{49B0D541-4751-4B46-AB13-82A126644038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38299D7B-73D4-4819-B289-43D66E14DACE}">
                  <a16:creationId xmlns:a16="http://schemas.microsoft.com/office/drawing/2010/main" id="{1ACA1A15-B2A3-49EB-84E0-53B773F135F6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6" name="Freeform 6">
            <a:extLst>
              <a:ext uri="{A88D2288-6307-4B61-BAA7-DF3F2A0D98EC}">
                <a16:creationId xmlns:a16="http://schemas.microsoft.com/office/drawing/2010/main" id="{DEE9FA5A-87F2-4A87-938E-770CDD396073}"/>
              </a:ext>
            </a:extLst>
          </p:cNvPr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b="b" l="0" r="r" t="0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 b="0" l="0" r="0" t="0"/>
            </a:stretch>
          </a:blipFill>
        </p:spPr>
      </p:sp>
      <p:sp>
        <p:nvSpPr>
          <p:cNvPr id="7" name="TextBox 7">
            <a:extLst>
              <a:ext uri="{DD677A02-A4A0-4837-A2C2-32F60291136B}">
                <a16:creationId xmlns:a16="http://schemas.microsoft.com/office/drawing/2010/main" id="{45CB4C03-57BC-44F5-92C1-3D004D436C30}"/>
              </a:ext>
            </a:extLst>
          </p:cNvPr>
          <p:cNvSpPr txBox="1"/>
          <p:nvPr/>
        </p:nvSpPr>
        <p:spPr>
          <a:xfrm rot="0">
            <a:off x="7850238" y="1332462"/>
            <a:ext cx="9445522" cy="2334815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6062"/>
              </a:lnSpc>
            </a:pPr>
            <a:r>
              <a:rPr dirty="0" lang="en-US" sz="4875">
                <a:solidFill>
                  <a:srgbClr val="3a3a3a"/>
                </a:solidFill>
                <a:latin typeface="Noto Serif"/>
              </a:rPr>
              <a:t>Problem Statement: The Pitfalls of Manual Task Management</a:t>
            </a:r>
            <a:endParaRPr dirty="0" lang="en-US" sz="4875">
              <a:solidFill>
                <a:srgbClr val="3a3a3a"/>
              </a:solidFill>
              <a:latin typeface="Noto Serif"/>
            </a:endParaRPr>
          </a:p>
        </p:txBody>
      </p:sp>
      <p:sp>
        <p:nvSpPr>
          <p:cNvPr id="8" name="TextBox 8">
            <a:extLst>
              <a:ext uri="{302A6D04-0C32-4AE6-B00F-5348A265F521}">
                <a16:creationId xmlns:a16="http://schemas.microsoft.com/office/drawing/2010/main" id="{6E49E180-A9C8-46A5-9C88-FA7E3EF23880}"/>
              </a:ext>
            </a:extLst>
          </p:cNvPr>
          <p:cNvSpPr txBox="1"/>
          <p:nvPr/>
        </p:nvSpPr>
        <p:spPr>
          <a:xfrm rot="0">
            <a:off x="7850238" y="3953618"/>
            <a:ext cx="9445522" cy="127650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Manual task management, prevalent in academic and professional settings, often leads to significant inefficiencies and missed opportunities. This project addresses the critical need for a more reliable system.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9" name="TextBox 9">
            <a:extLst>
              <a:ext uri="{06C47F2B-F47A-4FE7-BBC4-4C0D8E3B3422}">
                <a16:creationId xmlns:a16="http://schemas.microsoft.com/office/drawing/2010/main" id="{3F36C12F-BD2C-4220-9078-69DBA81EE21C}"/>
              </a:ext>
            </a:extLst>
          </p:cNvPr>
          <p:cNvSpPr txBox="1"/>
          <p:nvPr/>
        </p:nvSpPr>
        <p:spPr>
          <a:xfrm rot="0">
            <a:off x="7850238" y="5423449"/>
            <a:ext cx="9445522" cy="8795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46099" lvl="1" marL="292199">
              <a:lnSpc>
                <a:spcPts val="3125"/>
              </a:lnSpc>
              <a:buChar char="•"/>
              <a:buFont typeface="Arial"/>
            </a:pPr>
            <a:r>
              <a:rPr b="1" dirty="0" lang="en-US" sz="1937">
                <a:solidFill>
                  <a:srgbClr val="4c4c4c"/>
                </a:solidFill>
                <a:latin typeface="Noto Serif"/>
              </a:rPr>
              <a:t>Missed Deadlines:</a:t>
            </a:r>
            <a:r>
              <a:rPr dirty="0" lang="en-US" sz="1937">
                <a:solidFill>
                  <a:srgbClr val="4c4c4c"/>
                </a:solidFill>
                <a:latin typeface="Noto Serif"/>
              </a:rPr>
              <a:t> Human error in tracking due dates results in frequent oversight and submission failures.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0" name="TextBox 10">
            <a:extLst>
              <a:ext uri="{F47B7E04-CD45-42CD-A2AC-E9D93050266A}">
                <a16:creationId xmlns:a16="http://schemas.microsoft.com/office/drawing/2010/main" id="{BBC83A68-4248-4C94-9BD4-A2919A4F82A2}"/>
              </a:ext>
            </a:extLst>
          </p:cNvPr>
          <p:cNvSpPr txBox="1"/>
          <p:nvPr/>
        </p:nvSpPr>
        <p:spPr>
          <a:xfrm rot="0">
            <a:off x="7850238" y="6304064"/>
            <a:ext cx="9445522" cy="8795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46099" lvl="1" marL="292199">
              <a:lnSpc>
                <a:spcPts val="3125"/>
              </a:lnSpc>
              <a:buChar char="•"/>
              <a:buFont typeface="Arial"/>
            </a:pPr>
            <a:r>
              <a:rPr b="1" dirty="0" lang="en-US" sz="1937">
                <a:solidFill>
                  <a:srgbClr val="4c4c4c"/>
                </a:solidFill>
                <a:latin typeface="Noto Serif"/>
              </a:rPr>
              <a:t>Poor Organization:</a:t>
            </a:r>
            <a:r>
              <a:rPr dirty="0" lang="en-US" sz="1937">
                <a:solidFill>
                  <a:srgbClr val="4c4c4c"/>
                </a:solidFill>
                <a:latin typeface="Noto Serif"/>
              </a:rPr>
              <a:t> Inconsistent methods for recording tasks lead to disarray and difficulty in prioritizing workloads.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1" name="TextBox 11">
            <a:extLst>
              <a:ext uri="{274BAF10-6320-49E4-AAF6-DB94BBC548D1}">
                <a16:creationId xmlns:a16="http://schemas.microsoft.com/office/drawing/2010/main" id="{8F0A5925-9995-419F-A38E-283E651E5C6B}"/>
              </a:ext>
            </a:extLst>
          </p:cNvPr>
          <p:cNvSpPr txBox="1"/>
          <p:nvPr/>
        </p:nvSpPr>
        <p:spPr>
          <a:xfrm rot="0">
            <a:off x="7850238" y="7184678"/>
            <a:ext cx="9445522" cy="8795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46099" lvl="1" marL="292199">
              <a:lnSpc>
                <a:spcPts val="3125"/>
              </a:lnSpc>
              <a:buChar char="•"/>
              <a:buFont typeface="Arial"/>
            </a:pPr>
            <a:r>
              <a:rPr b="1" dirty="0" lang="en-US" sz="1937">
                <a:solidFill>
                  <a:srgbClr val="4c4c4c"/>
                </a:solidFill>
                <a:latin typeface="Noto Serif"/>
              </a:rPr>
              <a:t>Lack of Centralization:</a:t>
            </a:r>
            <a:r>
              <a:rPr dirty="0" lang="en-US" sz="1937">
                <a:solidFill>
                  <a:srgbClr val="4c4c4c"/>
                </a:solidFill>
                <a:latin typeface="Noto Serif"/>
              </a:rPr>
              <a:t> Scattered notes and digital files make a comprehensive overview of pending tasks challenging.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2" name="TextBox 12">
            <a:extLst>
              <a:ext uri="{0C9DF363-31C9-4097-8580-222C9E51EE78}">
                <a16:creationId xmlns:a16="http://schemas.microsoft.com/office/drawing/2010/main" id="{EBCC6D78-E651-47D0-BA7E-A1D3EC2210FD}"/>
              </a:ext>
            </a:extLst>
          </p:cNvPr>
          <p:cNvSpPr txBox="1"/>
          <p:nvPr/>
        </p:nvSpPr>
        <p:spPr>
          <a:xfrm rot="0">
            <a:off x="7850238" y="8065294"/>
            <a:ext cx="9445522" cy="8795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46099" lvl="1" marL="292199">
              <a:lnSpc>
                <a:spcPts val="3125"/>
              </a:lnSpc>
              <a:buChar char="•"/>
              <a:buFont typeface="Arial"/>
            </a:pPr>
            <a:r>
              <a:rPr b="1" dirty="0" lang="en-US" sz="1937">
                <a:solidFill>
                  <a:srgbClr val="4c4c4c"/>
                </a:solidFill>
                <a:latin typeface="Noto Serif"/>
              </a:rPr>
              <a:t>Inefficient Prioritization:</a:t>
            </a:r>
            <a:r>
              <a:rPr dirty="0" lang="en-US" sz="1937">
                <a:solidFill>
                  <a:srgbClr val="4c4c4c"/>
                </a:solidFill>
                <a:latin typeface="Noto Serif"/>
              </a:rPr>
              <a:t> Without a clear system, critical tasks may be overlooked in favor of less urgent ones.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</p:spTree>
    <p:extLst>
      <p:ext uri="{A1614326-E16B-435A-8F22-4FDE4BE34B05}">
        <p14:creationId xmlns:p14="http://schemas.microsoft.com/office/powerpoint/2010/main" val="1769609807894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EA154F41-AE9D-4345-A345-7D97FDD0B0FF}">
                <a16:creationId xmlns:a16="http://schemas.microsoft.com/office/drawing/2010/main" id="{472E77AF-E6AC-4B27-BA37-DF73A5897469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38BEC855-7BF8-4B2C-BA17-AF83FEBCE909}">
                  <a16:creationId xmlns:a16="http://schemas.microsoft.com/office/drawing/2010/main" id="{E126FEF1-0064-49AA-B738-3C9EC7AF12E0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1601BFF1-B0BA-4BD7-89D7-0F753A146572}">
                <a16:creationId xmlns:a16="http://schemas.microsoft.com/office/drawing/2010/main" id="{07717979-30DA-4A02-B8E4-0D0F48D88EBE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27004F75-3FCF-47AF-B5A4-FAB2E62198E8}">
                  <a16:creationId xmlns:a16="http://schemas.microsoft.com/office/drawing/2010/main" id="{34C99D34-25C7-49DC-92AC-79C2F5A8B786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>
            <a:extLst>
              <a:ext uri="{B7ED5E48-DAE7-45AE-B6E2-EBE058052C94}">
                <a16:creationId xmlns:a16="http://schemas.microsoft.com/office/drawing/2010/main" id="{70CDB672-857E-46B3-B444-90E9280C350A}"/>
              </a:ext>
            </a:extLst>
          </p:cNvPr>
          <p:cNvSpPr txBox="1"/>
          <p:nvPr/>
        </p:nvSpPr>
        <p:spPr>
          <a:xfrm rot="0">
            <a:off x="992238" y="1905000"/>
            <a:ext cx="16303524" cy="1559719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6062"/>
              </a:lnSpc>
            </a:pPr>
            <a:r>
              <a:rPr dirty="0" lang="en-US" sz="4875">
                <a:solidFill>
                  <a:srgbClr val="3a3a3a"/>
                </a:solidFill>
                <a:latin typeface="Noto Serif"/>
              </a:rPr>
              <a:t>Objectives of the Project: Enhancing Productivity and Reliability</a:t>
            </a:r>
            <a:endParaRPr dirty="0" lang="en-US" sz="4875">
              <a:solidFill>
                <a:srgbClr val="3a3a3a"/>
              </a:solidFill>
              <a:latin typeface="Noto Serif"/>
            </a:endParaRPr>
          </a:p>
        </p:txBody>
      </p:sp>
      <p:grpSp>
        <p:nvGrpSpPr>
          <p:cNvPr id="7" name="Group 7">
            <a:extLst>
              <a:ext uri="{DB279912-9104-43C4-9D3D-69720F80C615}">
                <a16:creationId xmlns:a16="http://schemas.microsoft.com/office/drawing/2010/main" id="{42FF729B-E122-4AEB-9709-9460E39172D8}"/>
              </a:ext>
            </a:extLst>
          </p:cNvPr>
          <p:cNvGrpSpPr/>
          <p:nvPr/>
        </p:nvGrpSpPr>
        <p:grpSpPr>
          <a:xfrm rot="0">
            <a:off x="977951" y="3946474"/>
            <a:ext cx="8056358" cy="1911991"/>
            <a:chOff x="0" y="0"/>
            <a:chExt cx="10741812" cy="2549322"/>
          </a:xfrm>
        </p:grpSpPr>
        <p:sp>
          <p:nvSpPr>
            <p:cNvPr id="8" name="Freeform 8">
              <a:extLst>
                <a:ext uri="{46166717-4716-4C00-AD1F-9761E05D6E91}">
                  <a16:creationId xmlns:a16="http://schemas.microsoft.com/office/drawing/2010/main" id="{D4A679D8-1CA1-43FF-A084-70D8BE1DFB9C}"/>
                </a:ext>
              </a:extLst>
            </p:cNvPr>
            <p:cNvSpPr/>
            <p:nvPr/>
          </p:nvSpPr>
          <p:spPr>
            <a:xfrm flipH="false" flipV="false" rot="0">
              <a:off x="19050" y="19050"/>
              <a:ext cx="10703814" cy="2511297"/>
            </a:xfrm>
            <a:custGeom>
              <a:avLst/>
              <a:gdLst/>
              <a:ahLst/>
              <a:cxnLst/>
              <a:rect b="b" l="0" r="r" t="0"/>
              <a:pathLst>
                <a:path h="2511298" w="10703814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10518775" y="0"/>
                  </a:lnTo>
                  <a:cubicBezTo>
                    <a:pt x="10620883" y="0"/>
                    <a:pt x="10703814" y="81915"/>
                    <a:pt x="10703814" y="182880"/>
                  </a:cubicBezTo>
                  <a:lnTo>
                    <a:pt x="10703814" y="2328418"/>
                  </a:lnTo>
                  <a:cubicBezTo>
                    <a:pt x="10703814" y="2429383"/>
                    <a:pt x="10621010" y="2511298"/>
                    <a:pt x="10518775" y="2511298"/>
                  </a:cubicBezTo>
                  <a:lnTo>
                    <a:pt x="185039" y="2511298"/>
                  </a:lnTo>
                  <a:cubicBezTo>
                    <a:pt x="82931" y="2511298"/>
                    <a:pt x="0" y="2429383"/>
                    <a:pt x="0" y="2328418"/>
                  </a:cubicBez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>
              <a:extLst>
                <a:ext uri="{ABCD5264-9394-4420-831E-BD0013818738}">
                  <a16:creationId xmlns:a16="http://schemas.microsoft.com/office/drawing/2010/main" id="{B093A439-522E-4274-8D53-0EB679C2199E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0741914" cy="2549398"/>
            </a:xfrm>
            <a:custGeom>
              <a:avLst/>
              <a:gdLst/>
              <a:ahLst/>
              <a:cxnLst/>
              <a:rect b="b" l="0" r="r" t="0"/>
              <a:pathLst>
                <a:path h="2549398" w="10741914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10537824" y="0"/>
                  </a:lnTo>
                  <a:lnTo>
                    <a:pt x="10537824" y="19050"/>
                  </a:lnTo>
                  <a:lnTo>
                    <a:pt x="10537824" y="0"/>
                  </a:lnTo>
                  <a:cubicBezTo>
                    <a:pt x="10650347" y="0"/>
                    <a:pt x="10741914" y="90170"/>
                    <a:pt x="10741914" y="201930"/>
                  </a:cubicBezTo>
                  <a:lnTo>
                    <a:pt x="10722864" y="201930"/>
                  </a:lnTo>
                  <a:lnTo>
                    <a:pt x="10741914" y="201930"/>
                  </a:lnTo>
                  <a:lnTo>
                    <a:pt x="10741914" y="2347468"/>
                  </a:lnTo>
                  <a:lnTo>
                    <a:pt x="10722864" y="2347468"/>
                  </a:lnTo>
                  <a:lnTo>
                    <a:pt x="10741914" y="2347468"/>
                  </a:lnTo>
                  <a:cubicBezTo>
                    <a:pt x="10741914" y="2459228"/>
                    <a:pt x="10650347" y="2549398"/>
                    <a:pt x="10537824" y="2549398"/>
                  </a:cubicBezTo>
                  <a:lnTo>
                    <a:pt x="10537824" y="2530348"/>
                  </a:lnTo>
                  <a:lnTo>
                    <a:pt x="10537824" y="2549398"/>
                  </a:lnTo>
                  <a:lnTo>
                    <a:pt x="204089" y="2549398"/>
                  </a:lnTo>
                  <a:lnTo>
                    <a:pt x="204089" y="2530348"/>
                  </a:lnTo>
                  <a:lnTo>
                    <a:pt x="204089" y="2549398"/>
                  </a:lnTo>
                  <a:cubicBezTo>
                    <a:pt x="91567" y="2549398"/>
                    <a:pt x="0" y="2459228"/>
                    <a:pt x="0" y="234746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47468"/>
                  </a:lnTo>
                  <a:lnTo>
                    <a:pt x="19050" y="2347468"/>
                  </a:lnTo>
                  <a:lnTo>
                    <a:pt x="38100" y="2347468"/>
                  </a:lnTo>
                  <a:cubicBezTo>
                    <a:pt x="38100" y="2437765"/>
                    <a:pt x="112141" y="2511298"/>
                    <a:pt x="204089" y="2511298"/>
                  </a:cubicBezTo>
                  <a:lnTo>
                    <a:pt x="10537824" y="2511298"/>
                  </a:lnTo>
                  <a:cubicBezTo>
                    <a:pt x="10629647" y="2511298"/>
                    <a:pt x="10703814" y="2437765"/>
                    <a:pt x="10703814" y="2347468"/>
                  </a:cubicBezTo>
                  <a:lnTo>
                    <a:pt x="10703814" y="201930"/>
                  </a:lnTo>
                  <a:cubicBezTo>
                    <a:pt x="10703814" y="111633"/>
                    <a:pt x="10629772" y="38100"/>
                    <a:pt x="10537824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>
            <a:extLst>
              <a:ext uri="{AF44CEE3-A161-4F0C-81E2-FA70C1AB2E78}">
                <a16:creationId xmlns:a16="http://schemas.microsoft.com/office/drawing/2010/main" id="{3FE29FB3-41EA-48F3-BDFA-F327D13B15AD}"/>
              </a:ext>
            </a:extLst>
          </p:cNvPr>
          <p:cNvGrpSpPr/>
          <p:nvPr/>
        </p:nvGrpSpPr>
        <p:grpSpPr>
          <a:xfrm rot="0">
            <a:off x="963663" y="3960762"/>
            <a:ext cx="114300" cy="1883416"/>
            <a:chOff x="0" y="0"/>
            <a:chExt cx="152400" cy="2511222"/>
          </a:xfrm>
        </p:grpSpPr>
        <p:sp>
          <p:nvSpPr>
            <p:cNvPr id="11" name="Freeform 11">
              <a:extLst>
                <a:ext uri="{56D69674-DE76-43C3-8FA4-04CB674ED689}">
                  <a16:creationId xmlns:a16="http://schemas.microsoft.com/office/drawing/2010/main" id="{B57EF468-9A8B-42DD-AE48-74D10D9D2DCE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2400" cy="2511170"/>
            </a:xfrm>
            <a:custGeom>
              <a:avLst/>
              <a:gdLst/>
              <a:ahLst/>
              <a:cxnLst/>
              <a:rect b="b" l="0" r="r" t="0"/>
              <a:pathLst>
                <a:path h="2511171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34971"/>
                  </a:lnTo>
                  <a:cubicBezTo>
                    <a:pt x="152400" y="2477008"/>
                    <a:pt x="118237" y="2511171"/>
                    <a:pt x="76200" y="2511171"/>
                  </a:cubicBezTo>
                  <a:cubicBezTo>
                    <a:pt x="34163" y="2511171"/>
                    <a:pt x="0" y="2477008"/>
                    <a:pt x="0" y="2434971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>
            <a:extLst>
              <a:ext uri="{1837624F-E631-4A0F-8663-8922CF71DD5A}">
                <a16:creationId xmlns:a16="http://schemas.microsoft.com/office/drawing/2010/main" id="{E9357C9D-8583-4C8B-A533-4927EBA7C3BC}"/>
              </a:ext>
            </a:extLst>
          </p:cNvPr>
          <p:cNvSpPr txBox="1"/>
          <p:nvPr/>
        </p:nvSpPr>
        <p:spPr>
          <a:xfrm rot="0">
            <a:off x="1354484" y="4246807"/>
            <a:ext cx="3648523" cy="378171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999"/>
              </a:lnSpc>
            </a:pPr>
            <a:r>
              <a:rPr dirty="0" lang="en-US" sz="2437">
                <a:solidFill>
                  <a:srgbClr val="4c4c4c"/>
                </a:solidFill>
                <a:latin typeface="Noto Serif"/>
              </a:rPr>
              <a:t>Automate Task Tracking</a:t>
            </a:r>
            <a:endParaRPr dirty="0" lang="en-US" sz="24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3" name="TextBox 13">
            <a:extLst>
              <a:ext uri="{C4B52EEC-2288-4903-A3A5-8591F6E76094}">
                <a16:creationId xmlns:a16="http://schemas.microsoft.com/office/drawing/2010/main" id="{C2C0C2A4-7CD1-486A-97E7-FC8686F37628}"/>
              </a:ext>
            </a:extLst>
          </p:cNvPr>
          <p:cNvSpPr txBox="1"/>
          <p:nvPr/>
        </p:nvSpPr>
        <p:spPr>
          <a:xfrm rot="0">
            <a:off x="1354484" y="4688091"/>
            <a:ext cx="7389018" cy="8795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To develop a system that automatically logs, categorizes, and monitors tasks, reducing manual effort and potential errors.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14" name="Group 14">
            <a:extLst>
              <a:ext uri="{211CF5FE-2E4E-434F-BFCF-A1E3542EBCFE}">
                <a16:creationId xmlns:a16="http://schemas.microsoft.com/office/drawing/2010/main" id="{8A77F30D-A76F-4AB4-A7A6-FC90E54CF661}"/>
              </a:ext>
            </a:extLst>
          </p:cNvPr>
          <p:cNvGrpSpPr/>
          <p:nvPr/>
        </p:nvGrpSpPr>
        <p:grpSpPr>
          <a:xfrm rot="0">
            <a:off x="9253691" y="3946474"/>
            <a:ext cx="8056358" cy="1911991"/>
            <a:chOff x="0" y="0"/>
            <a:chExt cx="10741812" cy="2549322"/>
          </a:xfrm>
        </p:grpSpPr>
        <p:sp>
          <p:nvSpPr>
            <p:cNvPr id="15" name="Freeform 15">
              <a:extLst>
                <a:ext uri="{F9E10EF1-6ACE-4D09-B55C-2B8F135510F7}">
                  <a16:creationId xmlns:a16="http://schemas.microsoft.com/office/drawing/2010/main" id="{DA7EE2BC-49B0-4F74-BCA3-E833DD202E1E}"/>
                </a:ext>
              </a:extLst>
            </p:cNvPr>
            <p:cNvSpPr/>
            <p:nvPr/>
          </p:nvSpPr>
          <p:spPr>
            <a:xfrm flipH="false" flipV="false" rot="0">
              <a:off x="19050" y="19050"/>
              <a:ext cx="10703814" cy="2511297"/>
            </a:xfrm>
            <a:custGeom>
              <a:avLst/>
              <a:gdLst/>
              <a:ahLst/>
              <a:cxnLst/>
              <a:rect b="b" l="0" r="r" t="0"/>
              <a:pathLst>
                <a:path h="2511298" w="10703814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10518775" y="0"/>
                  </a:lnTo>
                  <a:cubicBezTo>
                    <a:pt x="10620883" y="0"/>
                    <a:pt x="10703814" y="81915"/>
                    <a:pt x="10703814" y="182880"/>
                  </a:cubicBezTo>
                  <a:lnTo>
                    <a:pt x="10703814" y="2328418"/>
                  </a:lnTo>
                  <a:cubicBezTo>
                    <a:pt x="10703814" y="2429383"/>
                    <a:pt x="10621010" y="2511298"/>
                    <a:pt x="10518775" y="2511298"/>
                  </a:cubicBezTo>
                  <a:lnTo>
                    <a:pt x="185039" y="2511298"/>
                  </a:lnTo>
                  <a:cubicBezTo>
                    <a:pt x="82931" y="2511298"/>
                    <a:pt x="0" y="2429383"/>
                    <a:pt x="0" y="2328418"/>
                  </a:cubicBez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Freeform 16">
              <a:extLst>
                <a:ext uri="{5A76B8FE-3E39-4DE1-BAE0-A90D777E172F}">
                  <a16:creationId xmlns:a16="http://schemas.microsoft.com/office/drawing/2010/main" id="{D38A5977-A997-49B3-BE41-6A7DE839DDFE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0741914" cy="2549398"/>
            </a:xfrm>
            <a:custGeom>
              <a:avLst/>
              <a:gdLst/>
              <a:ahLst/>
              <a:cxnLst/>
              <a:rect b="b" l="0" r="r" t="0"/>
              <a:pathLst>
                <a:path h="2549398" w="10741914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10537824" y="0"/>
                  </a:lnTo>
                  <a:lnTo>
                    <a:pt x="10537824" y="19050"/>
                  </a:lnTo>
                  <a:lnTo>
                    <a:pt x="10537824" y="0"/>
                  </a:lnTo>
                  <a:cubicBezTo>
                    <a:pt x="10650347" y="0"/>
                    <a:pt x="10741914" y="90170"/>
                    <a:pt x="10741914" y="201930"/>
                  </a:cubicBezTo>
                  <a:lnTo>
                    <a:pt x="10722864" y="201930"/>
                  </a:lnTo>
                  <a:lnTo>
                    <a:pt x="10741914" y="201930"/>
                  </a:lnTo>
                  <a:lnTo>
                    <a:pt x="10741914" y="2347468"/>
                  </a:lnTo>
                  <a:lnTo>
                    <a:pt x="10722864" y="2347468"/>
                  </a:lnTo>
                  <a:lnTo>
                    <a:pt x="10741914" y="2347468"/>
                  </a:lnTo>
                  <a:cubicBezTo>
                    <a:pt x="10741914" y="2459228"/>
                    <a:pt x="10650347" y="2549398"/>
                    <a:pt x="10537824" y="2549398"/>
                  </a:cubicBezTo>
                  <a:lnTo>
                    <a:pt x="10537824" y="2530348"/>
                  </a:lnTo>
                  <a:lnTo>
                    <a:pt x="10537824" y="2549398"/>
                  </a:lnTo>
                  <a:lnTo>
                    <a:pt x="204089" y="2549398"/>
                  </a:lnTo>
                  <a:lnTo>
                    <a:pt x="204089" y="2530348"/>
                  </a:lnTo>
                  <a:lnTo>
                    <a:pt x="204089" y="2549398"/>
                  </a:lnTo>
                  <a:cubicBezTo>
                    <a:pt x="91567" y="2549398"/>
                    <a:pt x="0" y="2459228"/>
                    <a:pt x="0" y="234746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47468"/>
                  </a:lnTo>
                  <a:lnTo>
                    <a:pt x="19050" y="2347468"/>
                  </a:lnTo>
                  <a:lnTo>
                    <a:pt x="38100" y="2347468"/>
                  </a:lnTo>
                  <a:cubicBezTo>
                    <a:pt x="38100" y="2437765"/>
                    <a:pt x="112141" y="2511298"/>
                    <a:pt x="204089" y="2511298"/>
                  </a:cubicBezTo>
                  <a:lnTo>
                    <a:pt x="10537824" y="2511298"/>
                  </a:lnTo>
                  <a:cubicBezTo>
                    <a:pt x="10629647" y="2511298"/>
                    <a:pt x="10703814" y="2437765"/>
                    <a:pt x="10703814" y="2347468"/>
                  </a:cubicBezTo>
                  <a:lnTo>
                    <a:pt x="10703814" y="201930"/>
                  </a:lnTo>
                  <a:cubicBezTo>
                    <a:pt x="10703814" y="111633"/>
                    <a:pt x="10629772" y="38100"/>
                    <a:pt x="10537824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7" name="Group 17">
            <a:extLst>
              <a:ext uri="{BF0B6C08-E6C1-4FC1-AFE7-28B56BBB691A}">
                <a16:creationId xmlns:a16="http://schemas.microsoft.com/office/drawing/2010/main" id="{DF616778-88AC-433B-8DF4-90B461BF9C45}"/>
              </a:ext>
            </a:extLst>
          </p:cNvPr>
          <p:cNvGrpSpPr/>
          <p:nvPr/>
        </p:nvGrpSpPr>
        <p:grpSpPr>
          <a:xfrm rot="0">
            <a:off x="9239402" y="3960762"/>
            <a:ext cx="114300" cy="1883416"/>
            <a:chOff x="0" y="0"/>
            <a:chExt cx="152400" cy="2511222"/>
          </a:xfrm>
        </p:grpSpPr>
        <p:sp>
          <p:nvSpPr>
            <p:cNvPr id="18" name="Freeform 18">
              <a:extLst>
                <a:ext uri="{4D097B66-5BAB-4ACC-9CF6-5B8206DAB870}">
                  <a16:creationId xmlns:a16="http://schemas.microsoft.com/office/drawing/2010/main" id="{9EF0D093-CB80-477B-BB51-6102E10873EC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2400" cy="2511170"/>
            </a:xfrm>
            <a:custGeom>
              <a:avLst/>
              <a:gdLst/>
              <a:ahLst/>
              <a:cxnLst/>
              <a:rect b="b" l="0" r="r" t="0"/>
              <a:pathLst>
                <a:path h="2511171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34971"/>
                  </a:lnTo>
                  <a:cubicBezTo>
                    <a:pt x="152400" y="2477008"/>
                    <a:pt x="118237" y="2511171"/>
                    <a:pt x="76200" y="2511171"/>
                  </a:cubicBezTo>
                  <a:cubicBezTo>
                    <a:pt x="34163" y="2511171"/>
                    <a:pt x="0" y="2477008"/>
                    <a:pt x="0" y="2434971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>
            <a:extLst>
              <a:ext uri="{E7F9CBF3-14B1-476A-B990-73C6F8ED4924}">
                <a16:creationId xmlns:a16="http://schemas.microsoft.com/office/drawing/2010/main" id="{812E3BC5-2E98-4A50-9EE0-128C8D444A0F}"/>
              </a:ext>
            </a:extLst>
          </p:cNvPr>
          <p:cNvSpPr txBox="1"/>
          <p:nvPr/>
        </p:nvSpPr>
        <p:spPr>
          <a:xfrm rot="0">
            <a:off x="9630223" y="4246807"/>
            <a:ext cx="3999461" cy="378171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999"/>
              </a:lnSpc>
            </a:pPr>
            <a:r>
              <a:rPr dirty="0" lang="en-US" sz="2437">
                <a:solidFill>
                  <a:srgbClr val="4c4c4c"/>
                </a:solidFill>
                <a:latin typeface="Noto Serif"/>
              </a:rPr>
              <a:t>Provide Timely Reminders</a:t>
            </a:r>
            <a:endParaRPr dirty="0" lang="en-US" sz="24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20" name="TextBox 20">
            <a:extLst>
              <a:ext uri="{83A3A914-B5A5-4113-ABFE-E7D6E5781CBF}">
                <a16:creationId xmlns:a16="http://schemas.microsoft.com/office/drawing/2010/main" id="{51FC6C00-3849-400F-ABDC-58869B0DAF15}"/>
              </a:ext>
            </a:extLst>
          </p:cNvPr>
          <p:cNvSpPr txBox="1"/>
          <p:nvPr/>
        </p:nvSpPr>
        <p:spPr>
          <a:xfrm rot="0">
            <a:off x="9630223" y="4688091"/>
            <a:ext cx="7389018" cy="8795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To implement a robust notification system that alerts users to upcoming deadlines and critical task milestones.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21" name="Group 21">
            <a:extLst>
              <a:ext uri="{6F690D5F-4603-408A-B435-6471E401DA5E}">
                <a16:creationId xmlns:a16="http://schemas.microsoft.com/office/drawing/2010/main" id="{4DAE4E6B-D233-4D7C-A7D1-3B317B86EC53}"/>
              </a:ext>
            </a:extLst>
          </p:cNvPr>
          <p:cNvGrpSpPr/>
          <p:nvPr/>
        </p:nvGrpSpPr>
        <p:grpSpPr>
          <a:xfrm rot="0">
            <a:off x="977951" y="6077844"/>
            <a:ext cx="8056358" cy="2308916"/>
            <a:chOff x="0" y="0"/>
            <a:chExt cx="10741812" cy="3078556"/>
          </a:xfrm>
        </p:grpSpPr>
        <p:sp>
          <p:nvSpPr>
            <p:cNvPr id="22" name="Freeform 22">
              <a:extLst>
                <a:ext uri="{580657B9-0312-40D6-8BDC-E1B5082548D5}">
                  <a16:creationId xmlns:a16="http://schemas.microsoft.com/office/drawing/2010/main" id="{77504F1D-AF5B-43C2-A2B4-48C8F49FA420}"/>
                </a:ext>
              </a:extLst>
            </p:cNvPr>
            <p:cNvSpPr/>
            <p:nvPr/>
          </p:nvSpPr>
          <p:spPr>
            <a:xfrm flipH="false" flipV="false" rot="0">
              <a:off x="19050" y="19050"/>
              <a:ext cx="10703687" cy="3040507"/>
            </a:xfrm>
            <a:custGeom>
              <a:avLst/>
              <a:gdLst/>
              <a:ahLst/>
              <a:cxnLst/>
              <a:rect b="b" l="0" r="r" t="0"/>
              <a:pathLst>
                <a:path h="3040507" w="10703688">
                  <a:moveTo>
                    <a:pt x="0" y="182880"/>
                  </a:moveTo>
                  <a:cubicBezTo>
                    <a:pt x="0" y="81915"/>
                    <a:pt x="82550" y="0"/>
                    <a:pt x="184531" y="0"/>
                  </a:cubicBezTo>
                  <a:lnTo>
                    <a:pt x="10519155" y="0"/>
                  </a:lnTo>
                  <a:cubicBezTo>
                    <a:pt x="10621011" y="0"/>
                    <a:pt x="10703687" y="81915"/>
                    <a:pt x="10703687" y="182880"/>
                  </a:cubicBezTo>
                  <a:lnTo>
                    <a:pt x="10703687" y="2857627"/>
                  </a:lnTo>
                  <a:cubicBezTo>
                    <a:pt x="10703687" y="2958592"/>
                    <a:pt x="10621138" y="3040507"/>
                    <a:pt x="10519155" y="3040507"/>
                  </a:cubicBezTo>
                  <a:lnTo>
                    <a:pt x="184531" y="3040507"/>
                  </a:lnTo>
                  <a:cubicBezTo>
                    <a:pt x="82677" y="3040507"/>
                    <a:pt x="0" y="2958592"/>
                    <a:pt x="0" y="2857627"/>
                  </a:cubicBez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>
              <a:extLst>
                <a:ext uri="{395D2D95-E397-4EF0-A24B-2D5BD3D190CE}">
                  <a16:creationId xmlns:a16="http://schemas.microsoft.com/office/drawing/2010/main" id="{2E07EBF0-1FA6-4012-A2A6-8AFDD1003C66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0741789" cy="3078607"/>
            </a:xfrm>
            <a:custGeom>
              <a:avLst/>
              <a:gdLst/>
              <a:ahLst/>
              <a:cxnLst/>
              <a:rect b="b" l="0" r="r" t="0"/>
              <a:pathLst>
                <a:path h="3078607" w="10741789">
                  <a:moveTo>
                    <a:pt x="0" y="201930"/>
                  </a:moveTo>
                  <a:cubicBezTo>
                    <a:pt x="0" y="90297"/>
                    <a:pt x="91313" y="0"/>
                    <a:pt x="203581" y="0"/>
                  </a:cubicBezTo>
                  <a:lnTo>
                    <a:pt x="10538205" y="0"/>
                  </a:lnTo>
                  <a:lnTo>
                    <a:pt x="10538205" y="19050"/>
                  </a:lnTo>
                  <a:lnTo>
                    <a:pt x="10538205" y="0"/>
                  </a:lnTo>
                  <a:cubicBezTo>
                    <a:pt x="10650475" y="0"/>
                    <a:pt x="10741789" y="90297"/>
                    <a:pt x="10741789" y="201930"/>
                  </a:cubicBezTo>
                  <a:lnTo>
                    <a:pt x="10722739" y="201930"/>
                  </a:lnTo>
                  <a:lnTo>
                    <a:pt x="10741789" y="201930"/>
                  </a:lnTo>
                  <a:lnTo>
                    <a:pt x="10741789" y="2876677"/>
                  </a:lnTo>
                  <a:lnTo>
                    <a:pt x="10722739" y="2876677"/>
                  </a:lnTo>
                  <a:lnTo>
                    <a:pt x="10741789" y="2876677"/>
                  </a:lnTo>
                  <a:cubicBezTo>
                    <a:pt x="10741789" y="2988310"/>
                    <a:pt x="10650475" y="3078607"/>
                    <a:pt x="10538205" y="3078607"/>
                  </a:cubicBezTo>
                  <a:lnTo>
                    <a:pt x="10538205" y="3059557"/>
                  </a:lnTo>
                  <a:lnTo>
                    <a:pt x="10538205" y="3078607"/>
                  </a:lnTo>
                  <a:lnTo>
                    <a:pt x="203581" y="3078607"/>
                  </a:lnTo>
                  <a:lnTo>
                    <a:pt x="203581" y="3059557"/>
                  </a:lnTo>
                  <a:lnTo>
                    <a:pt x="203581" y="3078607"/>
                  </a:lnTo>
                  <a:cubicBezTo>
                    <a:pt x="91313" y="3078607"/>
                    <a:pt x="0" y="2988310"/>
                    <a:pt x="0" y="2876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876677"/>
                  </a:lnTo>
                  <a:lnTo>
                    <a:pt x="19050" y="2876677"/>
                  </a:lnTo>
                  <a:lnTo>
                    <a:pt x="38100" y="2876677"/>
                  </a:lnTo>
                  <a:cubicBezTo>
                    <a:pt x="38100" y="2966974"/>
                    <a:pt x="112014" y="3040507"/>
                    <a:pt x="203581" y="3040507"/>
                  </a:cubicBezTo>
                  <a:lnTo>
                    <a:pt x="10538205" y="3040507"/>
                  </a:lnTo>
                  <a:cubicBezTo>
                    <a:pt x="10629775" y="3040507"/>
                    <a:pt x="10703687" y="2966974"/>
                    <a:pt x="10703687" y="2876677"/>
                  </a:cubicBezTo>
                  <a:lnTo>
                    <a:pt x="10703687" y="201930"/>
                  </a:lnTo>
                  <a:cubicBezTo>
                    <a:pt x="10703687" y="111633"/>
                    <a:pt x="10629775" y="38100"/>
                    <a:pt x="10538205" y="38100"/>
                  </a:cubicBezTo>
                  <a:lnTo>
                    <a:pt x="203581" y="38100"/>
                  </a:lnTo>
                  <a:lnTo>
                    <a:pt x="203581" y="19050"/>
                  </a:lnTo>
                  <a:lnTo>
                    <a:pt x="203581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4" name="Group 24">
            <a:extLst>
              <a:ext uri="{64320386-DC39-4DBB-B375-6548CC076D53}">
                <a16:creationId xmlns:a16="http://schemas.microsoft.com/office/drawing/2010/main" id="{BD22EE28-F578-47C4-B7E2-55D39BD31388}"/>
              </a:ext>
            </a:extLst>
          </p:cNvPr>
          <p:cNvGrpSpPr/>
          <p:nvPr/>
        </p:nvGrpSpPr>
        <p:grpSpPr>
          <a:xfrm rot="0">
            <a:off x="963663" y="6092132"/>
            <a:ext cx="114300" cy="2280341"/>
            <a:chOff x="0" y="0"/>
            <a:chExt cx="152400" cy="3040456"/>
          </a:xfrm>
        </p:grpSpPr>
        <p:sp>
          <p:nvSpPr>
            <p:cNvPr id="25" name="Freeform 25">
              <a:extLst>
                <a:ext uri="{3CAB41EA-001B-4F22-90E3-CA1FCD19ED97}">
                  <a16:creationId xmlns:a16="http://schemas.microsoft.com/office/drawing/2010/main" id="{2B3F0FA2-DC32-446F-A95A-51610F9081A3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2400" cy="3040507"/>
            </a:xfrm>
            <a:custGeom>
              <a:avLst/>
              <a:gdLst/>
              <a:ahLst/>
              <a:cxnLst/>
              <a:rect b="b" l="0" r="r" t="0"/>
              <a:pathLst>
                <a:path h="3040507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964307"/>
                  </a:lnTo>
                  <a:cubicBezTo>
                    <a:pt x="152400" y="3006344"/>
                    <a:pt x="118237" y="3040507"/>
                    <a:pt x="76200" y="3040507"/>
                  </a:cubicBezTo>
                  <a:cubicBezTo>
                    <a:pt x="34163" y="3040507"/>
                    <a:pt x="0" y="3006344"/>
                    <a:pt x="0" y="2964307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>
            <a:extLst>
              <a:ext uri="{608D30A1-94B4-4D19-AC41-F4374B8A9BEC}">
                <a16:creationId xmlns:a16="http://schemas.microsoft.com/office/drawing/2010/main" id="{5B0F5B8D-757A-4F3D-8436-9303C8A48596}"/>
              </a:ext>
            </a:extLst>
          </p:cNvPr>
          <p:cNvSpPr txBox="1"/>
          <p:nvPr/>
        </p:nvSpPr>
        <p:spPr>
          <a:xfrm rot="0">
            <a:off x="1354484" y="6378178"/>
            <a:ext cx="4417665" cy="378171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999"/>
              </a:lnSpc>
            </a:pPr>
            <a:r>
              <a:rPr dirty="0" lang="en-US" sz="2437">
                <a:solidFill>
                  <a:srgbClr val="4c4c4c"/>
                </a:solidFill>
                <a:latin typeface="Noto Serif"/>
              </a:rPr>
              <a:t>Improve Overall Productivity</a:t>
            </a:r>
            <a:endParaRPr dirty="0" lang="en-US" sz="24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27" name="TextBox 27">
            <a:extLst>
              <a:ext uri="{B538FF54-7ACF-4A64-8FAB-1C45670E7C2A}">
                <a16:creationId xmlns:a16="http://schemas.microsoft.com/office/drawing/2010/main" id="{7C6DBB87-1D68-4CE4-8E5B-7819970300D8}"/>
              </a:ext>
            </a:extLst>
          </p:cNvPr>
          <p:cNvSpPr txBox="1"/>
          <p:nvPr/>
        </p:nvSpPr>
        <p:spPr>
          <a:xfrm rot="0">
            <a:off x="1354484" y="6819452"/>
            <a:ext cx="7389018" cy="127650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To empower users with tools that streamline their workflow, allowing them to focus on execution rather than administration.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28" name="Group 28">
            <a:extLst>
              <a:ext uri="{EE452B4B-6A08-41A2-9BCF-F6374EAEA43A}">
                <a16:creationId xmlns:a16="http://schemas.microsoft.com/office/drawing/2010/main" id="{C7DE6C11-A1E5-45AB-80DE-2AE53525E392}"/>
              </a:ext>
            </a:extLst>
          </p:cNvPr>
          <p:cNvGrpSpPr/>
          <p:nvPr/>
        </p:nvGrpSpPr>
        <p:grpSpPr>
          <a:xfrm rot="0">
            <a:off x="9253691" y="6077844"/>
            <a:ext cx="8056358" cy="2308916"/>
            <a:chOff x="0" y="0"/>
            <a:chExt cx="10741812" cy="3078556"/>
          </a:xfrm>
        </p:grpSpPr>
        <p:sp>
          <p:nvSpPr>
            <p:cNvPr id="29" name="Freeform 29">
              <a:extLst>
                <a:ext uri="{7F4B3E76-835D-4D9E-9B68-0D10744EB93B}">
                  <a16:creationId xmlns:a16="http://schemas.microsoft.com/office/drawing/2010/main" id="{0C6364FA-0F99-40E8-A1A8-D224711AAD3B}"/>
                </a:ext>
              </a:extLst>
            </p:cNvPr>
            <p:cNvSpPr/>
            <p:nvPr/>
          </p:nvSpPr>
          <p:spPr>
            <a:xfrm flipH="false" flipV="false" rot="0">
              <a:off x="19050" y="19050"/>
              <a:ext cx="10703687" cy="3040507"/>
            </a:xfrm>
            <a:custGeom>
              <a:avLst/>
              <a:gdLst/>
              <a:ahLst/>
              <a:cxnLst/>
              <a:rect b="b" l="0" r="r" t="0"/>
              <a:pathLst>
                <a:path h="3040507" w="10703688">
                  <a:moveTo>
                    <a:pt x="0" y="182880"/>
                  </a:moveTo>
                  <a:cubicBezTo>
                    <a:pt x="0" y="81915"/>
                    <a:pt x="82550" y="0"/>
                    <a:pt x="184531" y="0"/>
                  </a:cubicBezTo>
                  <a:lnTo>
                    <a:pt x="10519155" y="0"/>
                  </a:lnTo>
                  <a:cubicBezTo>
                    <a:pt x="10621011" y="0"/>
                    <a:pt x="10703687" y="81915"/>
                    <a:pt x="10703687" y="182880"/>
                  </a:cubicBezTo>
                  <a:lnTo>
                    <a:pt x="10703687" y="2857627"/>
                  </a:lnTo>
                  <a:cubicBezTo>
                    <a:pt x="10703687" y="2958592"/>
                    <a:pt x="10621138" y="3040507"/>
                    <a:pt x="10519155" y="3040507"/>
                  </a:cubicBezTo>
                  <a:lnTo>
                    <a:pt x="184531" y="3040507"/>
                  </a:lnTo>
                  <a:cubicBezTo>
                    <a:pt x="82677" y="3040507"/>
                    <a:pt x="0" y="2958592"/>
                    <a:pt x="0" y="2857627"/>
                  </a:cubicBez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  <p:sp>
          <p:nvSpPr>
            <p:cNvPr id="30" name="Freeform 30">
              <a:extLst>
                <a:ext uri="{D39F374D-4E70-44EE-BD51-0796FC7F1514}">
                  <a16:creationId xmlns:a16="http://schemas.microsoft.com/office/drawing/2010/main" id="{262A733A-D38B-4CC7-A20E-3EF87544AE0E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0741789" cy="3078607"/>
            </a:xfrm>
            <a:custGeom>
              <a:avLst/>
              <a:gdLst/>
              <a:ahLst/>
              <a:cxnLst/>
              <a:rect b="b" l="0" r="r" t="0"/>
              <a:pathLst>
                <a:path h="3078607" w="10741789">
                  <a:moveTo>
                    <a:pt x="0" y="201930"/>
                  </a:moveTo>
                  <a:cubicBezTo>
                    <a:pt x="0" y="90297"/>
                    <a:pt x="91313" y="0"/>
                    <a:pt x="203581" y="0"/>
                  </a:cubicBezTo>
                  <a:lnTo>
                    <a:pt x="10538205" y="0"/>
                  </a:lnTo>
                  <a:lnTo>
                    <a:pt x="10538205" y="19050"/>
                  </a:lnTo>
                  <a:lnTo>
                    <a:pt x="10538205" y="0"/>
                  </a:lnTo>
                  <a:cubicBezTo>
                    <a:pt x="10650475" y="0"/>
                    <a:pt x="10741789" y="90297"/>
                    <a:pt x="10741789" y="201930"/>
                  </a:cubicBezTo>
                  <a:lnTo>
                    <a:pt x="10722739" y="201930"/>
                  </a:lnTo>
                  <a:lnTo>
                    <a:pt x="10741789" y="201930"/>
                  </a:lnTo>
                  <a:lnTo>
                    <a:pt x="10741789" y="2876677"/>
                  </a:lnTo>
                  <a:lnTo>
                    <a:pt x="10722739" y="2876677"/>
                  </a:lnTo>
                  <a:lnTo>
                    <a:pt x="10741789" y="2876677"/>
                  </a:lnTo>
                  <a:cubicBezTo>
                    <a:pt x="10741789" y="2988310"/>
                    <a:pt x="10650475" y="3078607"/>
                    <a:pt x="10538205" y="3078607"/>
                  </a:cubicBezTo>
                  <a:lnTo>
                    <a:pt x="10538205" y="3059557"/>
                  </a:lnTo>
                  <a:lnTo>
                    <a:pt x="10538205" y="3078607"/>
                  </a:lnTo>
                  <a:lnTo>
                    <a:pt x="203581" y="3078607"/>
                  </a:lnTo>
                  <a:lnTo>
                    <a:pt x="203581" y="3059557"/>
                  </a:lnTo>
                  <a:lnTo>
                    <a:pt x="203581" y="3078607"/>
                  </a:lnTo>
                  <a:cubicBezTo>
                    <a:pt x="91313" y="3078607"/>
                    <a:pt x="0" y="2988310"/>
                    <a:pt x="0" y="2876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876677"/>
                  </a:lnTo>
                  <a:lnTo>
                    <a:pt x="19050" y="2876677"/>
                  </a:lnTo>
                  <a:lnTo>
                    <a:pt x="38100" y="2876677"/>
                  </a:lnTo>
                  <a:cubicBezTo>
                    <a:pt x="38100" y="2966974"/>
                    <a:pt x="112014" y="3040507"/>
                    <a:pt x="203581" y="3040507"/>
                  </a:cubicBezTo>
                  <a:lnTo>
                    <a:pt x="10538205" y="3040507"/>
                  </a:lnTo>
                  <a:cubicBezTo>
                    <a:pt x="10629775" y="3040507"/>
                    <a:pt x="10703687" y="2966974"/>
                    <a:pt x="10703687" y="2876677"/>
                  </a:cubicBezTo>
                  <a:lnTo>
                    <a:pt x="10703687" y="201930"/>
                  </a:lnTo>
                  <a:cubicBezTo>
                    <a:pt x="10703687" y="111633"/>
                    <a:pt x="10629775" y="38100"/>
                    <a:pt x="10538205" y="38100"/>
                  </a:cubicBezTo>
                  <a:lnTo>
                    <a:pt x="203581" y="38100"/>
                  </a:lnTo>
                  <a:lnTo>
                    <a:pt x="203581" y="19050"/>
                  </a:lnTo>
                  <a:lnTo>
                    <a:pt x="203581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1" name="Group 31">
            <a:extLst>
              <a:ext uri="{25387EC0-BDC2-49EC-9584-3C25D14F4657}">
                <a16:creationId xmlns:a16="http://schemas.microsoft.com/office/drawing/2010/main" id="{44A2677E-E6BE-4514-819F-E4E47FE20D7D}"/>
              </a:ext>
            </a:extLst>
          </p:cNvPr>
          <p:cNvGrpSpPr/>
          <p:nvPr/>
        </p:nvGrpSpPr>
        <p:grpSpPr>
          <a:xfrm rot="0">
            <a:off x="9239402" y="6092132"/>
            <a:ext cx="114300" cy="2280341"/>
            <a:chOff x="0" y="0"/>
            <a:chExt cx="152400" cy="3040456"/>
          </a:xfrm>
        </p:grpSpPr>
        <p:sp>
          <p:nvSpPr>
            <p:cNvPr id="32" name="Freeform 32">
              <a:extLst>
                <a:ext uri="{5A7A1B09-0E33-45A6-B451-2035110EAD68}">
                  <a16:creationId xmlns:a16="http://schemas.microsoft.com/office/drawing/2010/main" id="{A528F2B4-80DB-4039-8600-8F4FDEF4A889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2400" cy="3040507"/>
            </a:xfrm>
            <a:custGeom>
              <a:avLst/>
              <a:gdLst/>
              <a:ahLst/>
              <a:cxnLst/>
              <a:rect b="b" l="0" r="r" t="0"/>
              <a:pathLst>
                <a:path h="3040507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964307"/>
                  </a:lnTo>
                  <a:cubicBezTo>
                    <a:pt x="152400" y="3006344"/>
                    <a:pt x="118237" y="3040507"/>
                    <a:pt x="76200" y="3040507"/>
                  </a:cubicBezTo>
                  <a:cubicBezTo>
                    <a:pt x="34163" y="3040507"/>
                    <a:pt x="0" y="3006344"/>
                    <a:pt x="0" y="2964307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3" name="TextBox 33">
            <a:extLst>
              <a:ext uri="{EA7E0059-D036-4A06-AED3-9A1A3F17E2B7}">
                <a16:creationId xmlns:a16="http://schemas.microsoft.com/office/drawing/2010/main" id="{8C864304-F641-4833-AE4F-583A71842ACA}"/>
              </a:ext>
            </a:extLst>
          </p:cNvPr>
          <p:cNvSpPr txBox="1"/>
          <p:nvPr/>
        </p:nvSpPr>
        <p:spPr>
          <a:xfrm rot="0">
            <a:off x="9630223" y="6378178"/>
            <a:ext cx="3230013" cy="378171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999"/>
              </a:lnSpc>
            </a:pPr>
            <a:r>
              <a:rPr dirty="0" lang="en-US" sz="2437">
                <a:solidFill>
                  <a:srgbClr val="4c4c4c"/>
                </a:solidFill>
                <a:latin typeface="Noto Serif"/>
              </a:rPr>
              <a:t>Ensure Data Integrity</a:t>
            </a:r>
            <a:endParaRPr dirty="0" lang="en-US" sz="24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34" name="TextBox 34">
            <a:extLst>
              <a:ext uri="{27F90991-FB8F-46EA-B327-64DAD49D8E65}">
                <a16:creationId xmlns:a16="http://schemas.microsoft.com/office/drawing/2010/main" id="{D6D8E184-599A-462B-8A1F-F122BCCDFE95}"/>
              </a:ext>
            </a:extLst>
          </p:cNvPr>
          <p:cNvSpPr txBox="1"/>
          <p:nvPr/>
        </p:nvSpPr>
        <p:spPr>
          <a:xfrm rot="0">
            <a:off x="9630223" y="6819452"/>
            <a:ext cx="7389018" cy="8795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To create a secure and reliable platform for storing and managing task-related information.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</p:spTree>
    <p:extLst>
      <p:ext uri="{F0A26E07-194E-49B2-99E8-7924260157D8}">
        <p14:creationId xmlns:p14="http://schemas.microsoft.com/office/powerpoint/2010/main" val="1769609807896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41779038-1097-40AF-A91C-43E7919AED6E}">
                <a16:creationId xmlns:a16="http://schemas.microsoft.com/office/drawing/2010/main" id="{39D8FC56-574E-4A6C-9C36-289C126C94DC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C9A93522-9FD7-424F-B754-536C965E425E}">
                  <a16:creationId xmlns:a16="http://schemas.microsoft.com/office/drawing/2010/main" id="{36C94ADC-1564-4C49-AB0F-F43E978A36B9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DCA4E777-334E-4682-B00E-D74FD66F4126}">
                <a16:creationId xmlns:a16="http://schemas.microsoft.com/office/drawing/2010/main" id="{523F8D60-0B56-41DB-9412-A9F21B70A84C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382B2134-8F99-404F-9C46-3C6C404BCF96}">
                  <a16:creationId xmlns:a16="http://schemas.microsoft.com/office/drawing/2010/main" id="{9F47A99A-7B79-4DC4-8246-BAD449A00034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6" name="Freeform 6">
            <a:extLst>
              <a:ext uri="{E7781DAB-0CD4-4517-8A5C-DEFDFD8E320B}">
                <a16:creationId xmlns:a16="http://schemas.microsoft.com/office/drawing/2010/main" id="{419D8159-000E-446F-8724-1BBE148C60C1}"/>
              </a:ext>
            </a:extLst>
          </p:cNvPr>
          <p:cNvSpPr/>
          <p:nvPr/>
        </p:nvSpPr>
        <p:spPr>
          <a:xfrm flipH="false" flipV="false" rot="0">
            <a:off x="0" y="0"/>
            <a:ext cx="18288000" cy="3909850"/>
          </a:xfrm>
          <a:custGeom>
            <a:avLst/>
            <a:gdLst/>
            <a:ahLst/>
            <a:cxnLst/>
            <a:rect b="b" l="0" r="r" t="0"/>
            <a:pathLst>
              <a:path h="3101130" w="18288000">
                <a:moveTo>
                  <a:pt x="0" y="0"/>
                </a:moveTo>
                <a:lnTo>
                  <a:pt x="18288000" y="0"/>
                </a:lnTo>
                <a:lnTo>
                  <a:pt x="18288000" y="3101130"/>
                </a:lnTo>
                <a:lnTo>
                  <a:pt x="0" y="310113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 b="-64" l="0" r="0" t="-64"/>
            </a:stretch>
          </a:blipFill>
        </p:spPr>
      </p:sp>
      <p:sp>
        <p:nvSpPr>
          <p:cNvPr id="7" name="TextBox 7">
            <a:extLst>
              <a:ext uri="{F9DDC7DC-A19C-43AE-8E21-58CFC424E477}">
                <a16:creationId xmlns:a16="http://schemas.microsoft.com/office/drawing/2010/main" id="{5A3B3F6E-B4CF-4A1D-B00C-3AC1DFC82313}"/>
              </a:ext>
            </a:extLst>
          </p:cNvPr>
          <p:cNvSpPr txBox="1"/>
          <p:nvPr/>
        </p:nvSpPr>
        <p:spPr>
          <a:xfrm rot="0">
            <a:off x="992238" y="4262885"/>
            <a:ext cx="16303524" cy="7698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6062"/>
              </a:lnSpc>
            </a:pPr>
            <a:r>
              <a:rPr dirty="0" lang="en-US" sz="4875">
                <a:solidFill>
                  <a:srgbClr val="3a3a3a"/>
                </a:solidFill>
                <a:latin typeface="Noto Serif"/>
              </a:rPr>
              <a:t>MODULES IMPLEMENTED: </a:t>
            </a:r>
            <a:endParaRPr dirty="0" lang="en-US" sz="4875">
              <a:solidFill>
                <a:srgbClr val="3a3a3a"/>
              </a:solidFill>
              <a:latin typeface="Noto Serif"/>
            </a:endParaRPr>
          </a:p>
        </p:txBody>
      </p:sp>
      <p:sp>
        <p:nvSpPr>
          <p:cNvPr id="8" name="TextBox 8">
            <a:extLst>
              <a:ext uri="{A82E7086-80F5-4E60-9BC9-9434D1F2B3F1}">
                <a16:creationId xmlns:a16="http://schemas.microsoft.com/office/drawing/2010/main" id="{F68F7446-A77C-41D5-9BBD-0E51B7D5AE70}"/>
              </a:ext>
            </a:extLst>
          </p:cNvPr>
          <p:cNvSpPr txBox="1"/>
          <p:nvPr/>
        </p:nvSpPr>
        <p:spPr>
          <a:xfrm rot="0">
            <a:off x="992238" y="5033800"/>
            <a:ext cx="16303524" cy="39687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Lato"/>
              </a:rPr>
              <a:t/>
            </a:r>
            <a:endParaRPr dirty="0" lang="en-US" sz="1937">
              <a:solidFill>
                <a:srgbClr val="4c4c4c"/>
              </a:solidFill>
              <a:latin typeface="Lato"/>
            </a:endParaRPr>
          </a:p>
        </p:txBody>
      </p:sp>
      <p:sp>
        <p:nvSpPr>
          <p:cNvPr id="9" name="TextBox 9">
            <a:extLst>
              <a:ext uri="{C92A67E6-A89C-4959-866F-2A9B112E75BC}">
                <a16:creationId xmlns:a16="http://schemas.microsoft.com/office/drawing/2010/main" id="{0E4E733E-98B1-4953-9D97-F6E89A81F8E8}"/>
              </a:ext>
            </a:extLst>
          </p:cNvPr>
          <p:cNvSpPr txBox="1"/>
          <p:nvPr/>
        </p:nvSpPr>
        <p:spPr>
          <a:xfrm rot="0">
            <a:off x="992238" y="5886630"/>
            <a:ext cx="5093989" cy="793756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46099" lvl="1" marL="292199">
              <a:lnSpc>
                <a:spcPts val="3125"/>
              </a:lnSpc>
              <a:buChar char="•"/>
              <a:buFont typeface="Arial"/>
            </a:pPr>
            <a:r>
              <a:rPr b="1" dirty="0" lang="en-US" sz="1937">
                <a:solidFill>
                  <a:srgbClr val="4c4c4c"/>
                </a:solidFill>
                <a:latin typeface="Noto Serif"/>
              </a:rPr>
              <a:t>User Authentication &amp; Profile Module:</a:t>
            </a:r>
          </a:p>
          <a:p>
            <a:pPr algn="l" indent="-146099" lvl="1" marL="292199">
              <a:lnSpc>
                <a:spcPts val="3125"/>
              </a:lnSpc>
              <a:buChar char="•"/>
              <a:buFont typeface="Arial"/>
            </a:pPr>
            <a:r>
              <a:rPr b="1" dirty="0" lang="en-US" sz="1937">
                <a:solidFill>
                  <a:srgbClr val="4c4c4c"/>
                </a:solidFill>
                <a:latin typeface="Noto Serif"/>
              </a:rPr>
              <a:t/>
            </a:r>
            <a:endParaRPr b="1"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0" name="TextBox 10">
            <a:extLst>
              <a:ext uri="{060CE549-8539-4E60-B48F-A8A7D5637B58}">
                <a16:creationId xmlns:a16="http://schemas.microsoft.com/office/drawing/2010/main" id="{C8D2ECCC-E9F5-4948-82ED-15203946980B}"/>
              </a:ext>
            </a:extLst>
          </p:cNvPr>
          <p:cNvSpPr txBox="1"/>
          <p:nvPr/>
        </p:nvSpPr>
        <p:spPr>
          <a:xfrm rot="0">
            <a:off x="1165174" y="6343650"/>
            <a:ext cx="6673300" cy="1190634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0" lvl="1" marL="142875">
              <a:lnSpc>
                <a:spcPts val="3125"/>
              </a:lnSpc>
              <a:buNone/>
            </a:pPr>
            <a:r>
              <a:rPr b="0" dirty="0" lang="en-US" sz="1937">
                <a:solidFill>
                  <a:srgbClr val="4c4c4c"/>
                </a:solidFill>
                <a:latin typeface="Noto Serif"/>
              </a:rPr>
              <a:t>Handles user registration, login, </a:t>
            </a:r>
            <a:r>
              <a:rPr b="0" dirty="0" err="1" lang="en-US" sz="1937">
                <a:solidFill>
                  <a:srgbClr val="4c4c4c"/>
                </a:solidFill>
                <a:latin typeface="Noto Serif"/>
              </a:rPr>
              <a:t>OTP</a:t>
            </a:r>
            <a:r>
              <a:rPr b="0" dirty="0" lang="en-US" sz="1937">
                <a:solidFill>
                  <a:srgbClr val="4c4c4c"/>
                </a:solidFill>
                <a:latin typeface="Noto Serif"/>
              </a:rPr>
              <a:t> verification, session management, and profile image upload/removal.</a:t>
            </a:r>
            <a:endParaRPr b="0"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1" name="TextBox 11">
            <a:extLst>
              <a:ext uri="{2C2485BD-0F52-47A8-AC91-00C80D115506}">
                <a16:creationId xmlns:a16="http://schemas.microsoft.com/office/drawing/2010/main" id="{9B2B3A53-41F2-4EFE-A986-8CD0A8F303BD}"/>
              </a:ext>
            </a:extLst>
          </p:cNvPr>
          <p:cNvSpPr txBox="1"/>
          <p:nvPr/>
        </p:nvSpPr>
        <p:spPr>
          <a:xfrm flipV="true" rot="0">
            <a:off x="12372975" y="5886450"/>
            <a:ext cx="7616028" cy="396878"/>
          </a:xfrm>
          <a:prstGeom prst="rect">
            <a:avLst/>
          </a:prstGeom>
        </p:spPr>
        <p:txBody>
          <a:bodyPr anchor="t" bIns="0" lIns="0" rIns="0" rot="10800000" rtlCol="0" tIns="0">
            <a:spAutoFit/>
          </a:bodyPr>
          <a:lstStyle/>
          <a:p>
            <a:pPr algn="l" indent="-146099" lvl="1" marL="292199">
              <a:lnSpc>
                <a:spcPts val="3125"/>
              </a:lnSpc>
              <a:buChar char="•"/>
              <a:buFont typeface="Arial"/>
            </a:pPr>
            <a:r>
              <a:rPr b="1" dirty="0" lang="en-US" sz="1937">
                <a:solidFill>
                  <a:srgbClr val="4c4c4c"/>
                </a:solidFill>
                <a:latin typeface="Noto Serif"/>
              </a:rPr>
              <a:t>Task Management Module:</a:t>
            </a:r>
            <a:endParaRPr b="1"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2" name="TextBox 12">
            <a:extLst>
              <a:ext uri="{C0CBD265-B982-410F-9F96-4C99AD80E0A8}">
                <a16:creationId xmlns:a16="http://schemas.microsoft.com/office/drawing/2010/main" id="{FFA829CC-31FA-48DE-ACD5-773518073FEA}"/>
              </a:ext>
            </a:extLst>
          </p:cNvPr>
          <p:cNvSpPr txBox="1"/>
          <p:nvPr/>
        </p:nvSpPr>
        <p:spPr>
          <a:xfrm rot="0">
            <a:off x="992238" y="7753350"/>
            <a:ext cx="5093989" cy="39687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46099" lvl="1" marL="292199">
              <a:lnSpc>
                <a:spcPts val="3125"/>
              </a:lnSpc>
              <a:buChar char="•"/>
              <a:buFont typeface="Arial"/>
            </a:pPr>
            <a:r>
              <a:rPr b="1" dirty="0" lang="en-US" sz="1937">
                <a:solidFill>
                  <a:srgbClr val="4c4c4c"/>
                </a:solidFill>
                <a:latin typeface="Noto Serif"/>
              </a:rPr>
              <a:t>Dashboard &amp; Task Analytics Module:</a:t>
            </a:r>
            <a:endParaRPr b="1"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3" name="Text Box 14">
            <a:extLst>
              <a:ext uri="{5FBFCE68-E812-47AD-83D7-81F8E7B87B03}">
                <a16:creationId xmlns:a16="http://schemas.microsoft.com/office/drawing/2010/main" id="{F25CF877-4EE1-4E4D-A8A9-0B595BF96256}"/>
              </a:ext>
            </a:extLst>
          </p:cNvPr>
          <p:cNvSpPr txBox="1"/>
          <p:nvPr/>
        </p:nvSpPr>
        <p:spPr>
          <a:xfrm flipH="false" flipV="false" rot="0">
            <a:off x="1165174" y="5130270"/>
            <a:ext cx="16456915" cy="851392"/>
          </a:xfrm>
          <a:prstGeom prst="rect">
            <a:avLst/>
          </a:prstGeom>
        </p:spPr>
        <p:txBody>
          <a:bodyPr bIns="47625" lIns="95250" rIns="95250" rtlCol="0" tIns="47625">
            <a:noAutofit/>
          </a:bodyPr>
          <a:lstStyle/>
          <a:p>
            <a:pPr algn="l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dirty="0" lang="en-US" sz="1400">
                <a:solidFill>
                  <a:schemeClr val="tx1"/>
                </a:solidFill>
                <a:latin typeface="Calibri"/>
              </a:defRPr>
            </a:pPr>
            <a:r>
              <a:rPr dirty="0" lang="en-US" sz="1937">
                <a:solidFill>
                  <a:srgbClr val="4c4c4c"/>
                </a:solidFill>
                <a:latin typeface="Lato"/>
              </a:rPr>
              <a:t/>
            </a:r>
            <a:endParaRPr dirty="0" lang="en-US" sz="1937">
              <a:solidFill>
                <a:srgbClr val="4c4c4c"/>
              </a:solidFill>
              <a:latin typeface="Lato"/>
            </a:endParaRPr>
          </a:p>
        </p:txBody>
      </p:sp>
      <p:sp>
        <p:nvSpPr>
          <p:cNvPr id="14" name="Text Box 13">
            <a:extLst>
              <a:ext uri="{08D9BE78-DE9F-4B8B-8F9C-2B6938032E9A}">
                <a16:creationId xmlns:a16="http://schemas.microsoft.com/office/drawing/2010/main" id="{04DF780F-6A12-43FA-B23E-8D2BF92B2123}"/>
              </a:ext>
            </a:extLst>
          </p:cNvPr>
          <p:cNvSpPr txBox="1"/>
          <p:nvPr/>
        </p:nvSpPr>
        <p:spPr>
          <a:xfrm flipH="false" flipV="false" rot="0">
            <a:off x="12573000" y="6381750"/>
            <a:ext cx="4058898" cy="1275740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Allows users to create, update, delete, view, and mark tasks as completed with priority and status tracking.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5" name="Text Box 15">
            <a:extLst>
              <a:ext uri="{C60CA2C2-3CE8-4C51-8C15-7805023ABEB7}">
                <a16:creationId xmlns:a16="http://schemas.microsoft.com/office/drawing/2010/main" id="{F41F0435-D1F5-4485-8255-5F639E6A76D9}"/>
              </a:ext>
            </a:extLst>
          </p:cNvPr>
          <p:cNvSpPr txBox="1"/>
          <p:nvPr/>
        </p:nvSpPr>
        <p:spPr>
          <a:xfrm flipH="false" flipV="false" rot="0">
            <a:off x="1165174" y="8201025"/>
            <a:ext cx="5928150" cy="980617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l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dirty="0" lang="en-US" sz="1400"/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Displays task statistics such as total, pending, completed, and overdue tasks for better productivity insights.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6" name="Text Box 16">
            <a:extLst>
              <a:ext uri="{1AEF8B90-EE49-458F-8528-990CF922BAEB}">
                <a16:creationId xmlns:a16="http://schemas.microsoft.com/office/drawing/2010/main" id="{8E00ABDD-13EA-4190-B066-125AADA2DDA5}"/>
              </a:ext>
            </a:extLst>
          </p:cNvPr>
          <p:cNvSpPr txBox="1"/>
          <p:nvPr/>
        </p:nvSpPr>
        <p:spPr>
          <a:xfrm flipH="false" flipV="false" rot="0">
            <a:off x="12372975" y="7762456"/>
            <a:ext cx="8196824" cy="492128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l" indent="-146099" rtl="false"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buChar char="•"/>
              <a:buFont typeface="Arial"/>
              <a:defRPr dirty="0" lang="en-US" sz="1400"/>
            </a:pPr>
            <a:r>
              <a:rPr b="1" dirty="0" lang="en-US" sz="1937">
                <a:solidFill>
                  <a:srgbClr val="4c4c4c"/>
                </a:solidFill>
                <a:latin typeface="Noto Serif"/>
              </a:rPr>
              <a:t>Task Management Module:</a:t>
            </a:r>
            <a:endParaRPr b="1"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7" name="Text Box 17">
            <a:extLst>
              <a:ext uri="{11F68ADB-1249-4F76-8CBC-73F37C040F5A}">
                <a16:creationId xmlns:a16="http://schemas.microsoft.com/office/drawing/2010/main" id="{4F501FCC-7745-44D8-BEF1-6D9F19415372}"/>
              </a:ext>
            </a:extLst>
          </p:cNvPr>
          <p:cNvSpPr txBox="1"/>
          <p:nvPr/>
        </p:nvSpPr>
        <p:spPr>
          <a:xfrm flipH="false" flipV="true" rot="0">
            <a:off x="12573000" y="8010525"/>
            <a:ext cx="4540529" cy="1275740"/>
          </a:xfrm>
          <a:prstGeom prst="rect">
            <a:avLst/>
          </a:prstGeom>
        </p:spPr>
        <p:txBody>
          <a:bodyPr anchor="t" bIns="47625" lIns="95250" rIns="95250" rot="10800000" rtlCol="0" tIns="47625">
            <a:spAutoFit/>
          </a:bodyPr>
          <a:lstStyle/>
          <a:p>
            <a:pPr algn="l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dirty="0" lang="en-US" sz="1400"/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/>
            </a:r>
          </a:p>
          <a:p>
            <a:pPr algn="l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dirty="0" lang="en-US" sz="1400"/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Sends task reminders and reports via email, including CSV file attachments for task data export.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</p:spTree>
    <p:extLst>
      <p:ext uri="{A98D48FA-F20C-4500-8905-44227CE16D9E}">
        <p14:creationId xmlns:p14="http://schemas.microsoft.com/office/powerpoint/2010/main" val="1769609807899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0D9CB277-1EE1-4957-A1E4-90757606BFF0}">
                <a16:creationId xmlns:a16="http://schemas.microsoft.com/office/drawing/2010/main" id="{11A0A3C3-4D1D-4D8D-9FBB-3962634BFD9A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2D61FF96-F491-4D2C-A607-BA0CDB3FBA4F}">
                  <a16:creationId xmlns:a16="http://schemas.microsoft.com/office/drawing/2010/main" id="{0D77D3D8-F5CA-420A-BBA6-75C0D00A2013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2EE41BDB-7E43-479F-BC4F-0CDEDB697AAE}">
                <a16:creationId xmlns:a16="http://schemas.microsoft.com/office/drawing/2010/main" id="{53682B77-C98D-4B7C-8C3E-88047EA31CFC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D4C855F2-2156-4E42-BCA6-6EACC505D636}">
                  <a16:creationId xmlns:a16="http://schemas.microsoft.com/office/drawing/2010/main" id="{A144AB76-2C58-4DA9-9FF9-44B2D53125EF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6" name="Freeform 6">
            <a:extLst>
              <a:ext uri="{9D830198-8A27-4A50-86AC-6B56B3A35453}">
                <a16:creationId xmlns:a16="http://schemas.microsoft.com/office/drawing/2010/main" id="{9888C350-BA8E-482E-AAD6-B38F6D4261D9}"/>
              </a:ext>
            </a:extLst>
          </p:cNvPr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b="b" l="0" r="r" t="0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 b="0" l="0" r="0" t="0"/>
            </a:stretch>
          </a:blipFill>
        </p:spPr>
      </p:sp>
      <p:sp>
        <p:nvSpPr>
          <p:cNvPr id="7" name="TextBox 7">
            <a:extLst>
              <a:ext uri="{1DBDA83E-BB39-4709-9D46-DDC94903E37C}">
                <a16:creationId xmlns:a16="http://schemas.microsoft.com/office/drawing/2010/main" id="{927D1E08-46BA-40C8-AD25-5883A1528A24}"/>
              </a:ext>
            </a:extLst>
          </p:cNvPr>
          <p:cNvSpPr txBox="1"/>
          <p:nvPr/>
        </p:nvSpPr>
        <p:spPr>
          <a:xfrm rot="0">
            <a:off x="7772400" y="785222"/>
            <a:ext cx="9601200" cy="2162175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5625"/>
              </a:lnSpc>
            </a:pPr>
            <a:r>
              <a:rPr dirty="0" lang="en-US" sz="4499">
                <a:solidFill>
                  <a:srgbClr val="3a3a3a"/>
                </a:solidFill>
                <a:latin typeface="Noto Serif"/>
              </a:rPr>
              <a:t>Technology Stack: Robust Foundations for a Scalable Solution</a:t>
            </a:r>
            <a:endParaRPr dirty="0" lang="en-US" sz="4499">
              <a:solidFill>
                <a:srgbClr val="3a3a3a"/>
              </a:solidFill>
              <a:latin typeface="Noto Serif"/>
            </a:endParaRPr>
          </a:p>
        </p:txBody>
      </p:sp>
      <p:grpSp>
        <p:nvGrpSpPr>
          <p:cNvPr id="8" name="Group 8">
            <a:extLst>
              <a:ext uri="{62171699-D34C-47B8-97E5-450BB0EC3934}">
                <a16:creationId xmlns:a16="http://schemas.microsoft.com/office/drawing/2010/main" id="{FB1CFB21-74D8-45C2-8315-8FEF402C9353}"/>
              </a:ext>
            </a:extLst>
          </p:cNvPr>
          <p:cNvGrpSpPr/>
          <p:nvPr/>
        </p:nvGrpSpPr>
        <p:grpSpPr>
          <a:xfrm rot="0">
            <a:off x="7767637" y="3285534"/>
            <a:ext cx="4695825" cy="3357115"/>
            <a:chOff x="0" y="0"/>
            <a:chExt cx="6261100" cy="4476153"/>
          </a:xfrm>
        </p:grpSpPr>
        <p:sp>
          <p:nvSpPr>
            <p:cNvPr id="9" name="Freeform 9">
              <a:extLst>
                <a:ext uri="{C6134E73-1047-4D3D-B2AD-2579826E1369}">
                  <a16:creationId xmlns:a16="http://schemas.microsoft.com/office/drawing/2010/main" id="{74191602-8922-4813-8AED-8DF866CFDB9C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6248400" cy="4463414"/>
            </a:xfrm>
            <a:custGeom>
              <a:avLst/>
              <a:gdLst/>
              <a:ahLst/>
              <a:cxnLst/>
              <a:rect b="b" l="0" r="r" t="0"/>
              <a:pathLst>
                <a:path h="4463415" w="6248400">
                  <a:moveTo>
                    <a:pt x="0" y="128016"/>
                  </a:moveTo>
                  <a:cubicBezTo>
                    <a:pt x="0" y="57277"/>
                    <a:pt x="57404" y="0"/>
                    <a:pt x="128143" y="0"/>
                  </a:cubicBezTo>
                  <a:lnTo>
                    <a:pt x="6120257" y="0"/>
                  </a:lnTo>
                  <a:cubicBezTo>
                    <a:pt x="6190996" y="0"/>
                    <a:pt x="6248400" y="57277"/>
                    <a:pt x="6248400" y="128016"/>
                  </a:cubicBezTo>
                  <a:lnTo>
                    <a:pt x="6248400" y="4335399"/>
                  </a:lnTo>
                  <a:cubicBezTo>
                    <a:pt x="6248400" y="4406138"/>
                    <a:pt x="6190996" y="4463415"/>
                    <a:pt x="6120257" y="4463415"/>
                  </a:cubicBezTo>
                  <a:lnTo>
                    <a:pt x="128143" y="4463415"/>
                  </a:lnTo>
                  <a:cubicBezTo>
                    <a:pt x="57404" y="4463415"/>
                    <a:pt x="0" y="4406138"/>
                    <a:pt x="0" y="4335399"/>
                  </a:cubicBezTo>
                  <a:close/>
                </a:path>
              </a:pathLst>
            </a:custGeom>
            <a:solidFill>
              <a:srgbClr val="f2ede5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>
              <a:extLst>
                <a:ext uri="{4A37697C-AA24-4AB1-80B5-4031B92F2B45}">
                  <a16:creationId xmlns:a16="http://schemas.microsoft.com/office/drawing/2010/main" id="{BE7C77B9-17A4-40E3-8773-CCA3277C3549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6261100" cy="4476115"/>
            </a:xfrm>
            <a:custGeom>
              <a:avLst/>
              <a:gdLst/>
              <a:ahLst/>
              <a:cxnLst/>
              <a:rect b="b" l="0" r="r" t="0"/>
              <a:pathLst>
                <a:path h="4476115" w="6261101">
                  <a:moveTo>
                    <a:pt x="0" y="134366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6126608" y="0"/>
                  </a:lnTo>
                  <a:lnTo>
                    <a:pt x="6126608" y="6350"/>
                  </a:lnTo>
                  <a:lnTo>
                    <a:pt x="6126608" y="0"/>
                  </a:lnTo>
                  <a:cubicBezTo>
                    <a:pt x="6200902" y="0"/>
                    <a:pt x="6261101" y="60198"/>
                    <a:pt x="6261101" y="134366"/>
                  </a:cubicBezTo>
                  <a:lnTo>
                    <a:pt x="6254750" y="134366"/>
                  </a:lnTo>
                  <a:lnTo>
                    <a:pt x="6261101" y="134366"/>
                  </a:lnTo>
                  <a:lnTo>
                    <a:pt x="6261101" y="4341749"/>
                  </a:lnTo>
                  <a:lnTo>
                    <a:pt x="6254750" y="4341749"/>
                  </a:lnTo>
                  <a:lnTo>
                    <a:pt x="6261101" y="4341749"/>
                  </a:lnTo>
                  <a:cubicBezTo>
                    <a:pt x="6261101" y="4415917"/>
                    <a:pt x="6200902" y="4476115"/>
                    <a:pt x="6126608" y="4476115"/>
                  </a:cubicBezTo>
                  <a:lnTo>
                    <a:pt x="6126608" y="4469765"/>
                  </a:lnTo>
                  <a:lnTo>
                    <a:pt x="6126608" y="4476115"/>
                  </a:lnTo>
                  <a:lnTo>
                    <a:pt x="134493" y="4476115"/>
                  </a:lnTo>
                  <a:lnTo>
                    <a:pt x="134493" y="4469765"/>
                  </a:lnTo>
                  <a:lnTo>
                    <a:pt x="134493" y="4476115"/>
                  </a:lnTo>
                  <a:cubicBezTo>
                    <a:pt x="60198" y="4476115"/>
                    <a:pt x="0" y="4416044"/>
                    <a:pt x="0" y="4341749"/>
                  </a:cubicBezTo>
                  <a:lnTo>
                    <a:pt x="0" y="134366"/>
                  </a:lnTo>
                  <a:lnTo>
                    <a:pt x="6350" y="134366"/>
                  </a:lnTo>
                  <a:lnTo>
                    <a:pt x="0" y="134366"/>
                  </a:lnTo>
                  <a:moveTo>
                    <a:pt x="12700" y="134366"/>
                  </a:moveTo>
                  <a:lnTo>
                    <a:pt x="12700" y="4341749"/>
                  </a:lnTo>
                  <a:lnTo>
                    <a:pt x="6350" y="4341749"/>
                  </a:lnTo>
                  <a:lnTo>
                    <a:pt x="12700" y="4341749"/>
                  </a:lnTo>
                  <a:cubicBezTo>
                    <a:pt x="12700" y="4408932"/>
                    <a:pt x="67183" y="4463415"/>
                    <a:pt x="134493" y="4463415"/>
                  </a:cubicBezTo>
                  <a:lnTo>
                    <a:pt x="6126608" y="4463415"/>
                  </a:lnTo>
                  <a:cubicBezTo>
                    <a:pt x="6193917" y="4463415"/>
                    <a:pt x="6248400" y="4408932"/>
                    <a:pt x="6248400" y="4341749"/>
                  </a:cubicBezTo>
                  <a:lnTo>
                    <a:pt x="6248400" y="134366"/>
                  </a:lnTo>
                  <a:cubicBezTo>
                    <a:pt x="6248400" y="67183"/>
                    <a:pt x="6193917" y="12700"/>
                    <a:pt x="6126608" y="12700"/>
                  </a:cubicBezTo>
                  <a:lnTo>
                    <a:pt x="134493" y="12700"/>
                  </a:lnTo>
                  <a:lnTo>
                    <a:pt x="134493" y="6350"/>
                  </a:lnTo>
                  <a:lnTo>
                    <a:pt x="134493" y="12700"/>
                  </a:lnTo>
                  <a:cubicBezTo>
                    <a:pt x="67183" y="12700"/>
                    <a:pt x="12700" y="67183"/>
                    <a:pt x="12700" y="134366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>
            <a:extLst>
              <a:ext uri="{80147E06-BA67-45E1-BEE8-81A3016B299D}">
                <a16:creationId xmlns:a16="http://schemas.microsoft.com/office/drawing/2010/main" id="{3941B6AC-1A92-4D3E-84ED-AADBD3E65176}"/>
              </a:ext>
            </a:extLst>
          </p:cNvPr>
          <p:cNvGrpSpPr/>
          <p:nvPr/>
        </p:nvGrpSpPr>
        <p:grpSpPr>
          <a:xfrm rot="0">
            <a:off x="8010525" y="3528422"/>
            <a:ext cx="685800" cy="685800"/>
            <a:chOff x="0" y="0"/>
            <a:chExt cx="914400" cy="914400"/>
          </a:xfrm>
        </p:grpSpPr>
        <p:sp>
          <p:nvSpPr>
            <p:cNvPr id="12" name="Freeform 12">
              <a:extLst>
                <a:ext uri="{E65F5D88-B6C4-4A54-BFFF-CF927CE66B1C}">
                  <a16:creationId xmlns:a16="http://schemas.microsoft.com/office/drawing/2010/main" id="{DD8D74AF-B2ED-47BA-AA09-1A1B190D3079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b="b" l="0" r="r" t="0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13" name="Freeform 13">
            <a:extLst>
              <a:ext uri="{0B6A3C1E-1E04-4FF5-84C4-C09862A02700}">
                <a16:creationId xmlns:a16="http://schemas.microsoft.com/office/drawing/2010/main" id="{ED92C6D2-04DB-4818-9681-923B4402D498}"/>
              </a:ext>
            </a:extLst>
          </p:cNvPr>
          <p:cNvSpPr/>
          <p:nvPr/>
        </p:nvSpPr>
        <p:spPr>
          <a:xfrm flipH="false" flipV="false" rot="0">
            <a:off x="8199090" y="3716979"/>
            <a:ext cx="308524" cy="308524"/>
          </a:xfrm>
          <a:custGeom>
            <a:avLst/>
            <a:gdLst/>
            <a:ahLst/>
            <a:cxnLst/>
            <a:rect b="b" l="0" r="r" t="0"/>
            <a:pathLst>
              <a:path h="308524" w="308524">
                <a:moveTo>
                  <a:pt x="0" y="0"/>
                </a:moveTo>
                <a:lnTo>
                  <a:pt x="308525" y="0"/>
                </a:lnTo>
                <a:lnTo>
                  <a:pt x="308525" y="308524"/>
                </a:lnTo>
                <a:lnTo>
                  <a:pt x="0" y="30852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 b="0" l="-1515" r="-1512" t="0"/>
            </a:stretch>
          </a:blipFill>
        </p:spPr>
      </p:sp>
      <p:sp>
        <p:nvSpPr>
          <p:cNvPr id="14" name="TextBox 14">
            <a:extLst>
              <a:ext uri="{F6617465-88AC-4506-AE57-FF48F0206A51}">
                <a16:creationId xmlns:a16="http://schemas.microsoft.com/office/drawing/2010/main" id="{32611168-0566-4765-ACCA-52439C2880BE}"/>
              </a:ext>
            </a:extLst>
          </p:cNvPr>
          <p:cNvSpPr txBox="1"/>
          <p:nvPr/>
        </p:nvSpPr>
        <p:spPr>
          <a:xfrm rot="0">
            <a:off x="8010525" y="4433297"/>
            <a:ext cx="3917452" cy="35712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12"/>
              </a:lnSpc>
            </a:pPr>
            <a:r>
              <a:rPr dirty="0" lang="en-US" sz="2249">
                <a:solidFill>
                  <a:srgbClr val="4c4c4c"/>
                </a:solidFill>
                <a:latin typeface="Noto Serif"/>
              </a:rPr>
              <a:t>Backend: </a:t>
            </a:r>
            <a:endParaRPr dirty="0" lang="en-US" sz="2249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5" name="TextBox 15">
            <a:extLst>
              <a:ext uri="{8DCFD4C1-8390-469C-A37A-411595AB3994}">
                <a16:creationId xmlns:a16="http://schemas.microsoft.com/office/drawing/2010/main" id="{3D6F2A7E-35B2-465F-B27D-8AA9CF6BAF61}"/>
              </a:ext>
            </a:extLst>
          </p:cNvPr>
          <p:cNvSpPr txBox="1"/>
          <p:nvPr/>
        </p:nvSpPr>
        <p:spPr>
          <a:xfrm rot="0">
            <a:off x="8010525" y="4870399"/>
            <a:ext cx="4210050" cy="1094994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4"/>
              </a:lnSpc>
            </a:pPr>
            <a:r>
              <a:rPr dirty="0" lang="en-US" sz="1750">
                <a:solidFill>
                  <a:srgbClr val="4c4c4c"/>
                </a:solidFill>
                <a:latin typeface="Noto Serif"/>
              </a:rPr>
              <a:t>Spring Boot (</a:t>
            </a:r>
            <a:r>
              <a:rPr dirty="0" lang="en-US" sz="1750">
                <a:solidFill>
                  <a:srgbClr val="4c4c4c"/>
                </a:solidFill>
                <a:latin typeface="Noto Serif"/>
              </a:rPr>
              <a:t>MVC</a:t>
            </a:r>
            <a:r>
              <a:rPr dirty="0" lang="en-US" sz="1750">
                <a:solidFill>
                  <a:srgbClr val="4c4c4c"/>
                </a:solidFill>
                <a:latin typeface="Noto Serif"/>
              </a:rPr>
              <a:t> Architecture)</a:t>
            </a:r>
          </a:p>
          <a:p>
            <a:pPr algn="l">
              <a:lnSpc>
                <a:spcPts val="2874"/>
              </a:lnSpc>
            </a:pPr>
            <a:r>
              <a:rPr dirty="0" lang="en-US" sz="1750">
                <a:solidFill>
                  <a:srgbClr val="4c4c4c"/>
                </a:solidFill>
                <a:latin typeface="Noto Serif"/>
              </a:rPr>
              <a:t>Unit, </a:t>
            </a:r>
            <a:r>
              <a:rPr dirty="0" lang="en-US" sz="1750">
                <a:solidFill>
                  <a:srgbClr val="4c4c4c"/>
                </a:solidFill>
                <a:latin typeface="Noto Serif"/>
              </a:rPr>
              <a:t>Mockito</a:t>
            </a:r>
            <a:r>
              <a:rPr dirty="0" lang="en-US" sz="1750">
                <a:solidFill>
                  <a:srgbClr val="4c4c4c"/>
                </a:solidFill>
                <a:latin typeface="Noto Serif"/>
              </a:rPr>
              <a:t> </a:t>
            </a:r>
            <a:br>
              <a:rPr dirty="0" lang="en-US" sz="1750">
                <a:solidFill>
                  <a:srgbClr val="4c4c4c"/>
                </a:solidFill>
                <a:latin typeface="Noto Serif"/>
              </a:rPr>
            </a:br>
            <a:r>
              <a:rPr dirty="0" lang="en-US" sz="1750">
                <a:solidFill>
                  <a:srgbClr val="4c4c4c"/>
                </a:solidFill>
                <a:latin typeface="Noto Serif"/>
              </a:rPr>
              <a:t>Scheduler,</a:t>
            </a:r>
            <a:r>
              <a:rPr dirty="0" lang="en-US" sz="1750">
                <a:solidFill>
                  <a:srgbClr val="4c4c4c"/>
                </a:solidFill>
                <a:latin typeface="Noto Serif"/>
              </a:rPr>
              <a:t>Mysql</a:t>
            </a:r>
            <a:endParaRPr dirty="0" lang="en-US" sz="1750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16" name="Group 16">
            <a:extLst>
              <a:ext uri="{0A347577-5D1D-42B5-9A6E-6498899186E3}">
                <a16:creationId xmlns:a16="http://schemas.microsoft.com/office/drawing/2010/main" id="{A6CFC5B5-3705-4E54-8F8A-5ED48B6BBA29}"/>
              </a:ext>
            </a:extLst>
          </p:cNvPr>
          <p:cNvGrpSpPr/>
          <p:nvPr/>
        </p:nvGrpSpPr>
        <p:grpSpPr>
          <a:xfrm rot="0">
            <a:off x="12682537" y="3285534"/>
            <a:ext cx="4695825" cy="3357115"/>
            <a:chOff x="0" y="0"/>
            <a:chExt cx="6261100" cy="4476153"/>
          </a:xfrm>
        </p:grpSpPr>
        <p:sp>
          <p:nvSpPr>
            <p:cNvPr id="17" name="Freeform 17">
              <a:extLst>
                <a:ext uri="{C8C94D70-C959-45E4-B435-95E3437313F2}">
                  <a16:creationId xmlns:a16="http://schemas.microsoft.com/office/drawing/2010/main" id="{3E28F211-1FE5-4E37-853B-3E2A5D4B0FDE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6248400" cy="4463414"/>
            </a:xfrm>
            <a:custGeom>
              <a:avLst/>
              <a:gdLst/>
              <a:ahLst/>
              <a:cxnLst/>
              <a:rect b="b" l="0" r="r" t="0"/>
              <a:pathLst>
                <a:path h="4463415" w="6248400">
                  <a:moveTo>
                    <a:pt x="0" y="128016"/>
                  </a:moveTo>
                  <a:cubicBezTo>
                    <a:pt x="0" y="57277"/>
                    <a:pt x="57404" y="0"/>
                    <a:pt x="128143" y="0"/>
                  </a:cubicBezTo>
                  <a:lnTo>
                    <a:pt x="6120257" y="0"/>
                  </a:lnTo>
                  <a:cubicBezTo>
                    <a:pt x="6190996" y="0"/>
                    <a:pt x="6248400" y="57277"/>
                    <a:pt x="6248400" y="128016"/>
                  </a:cubicBezTo>
                  <a:lnTo>
                    <a:pt x="6248400" y="4335399"/>
                  </a:lnTo>
                  <a:cubicBezTo>
                    <a:pt x="6248400" y="4406138"/>
                    <a:pt x="6190996" y="4463415"/>
                    <a:pt x="6120257" y="4463415"/>
                  </a:cubicBezTo>
                  <a:lnTo>
                    <a:pt x="128143" y="4463415"/>
                  </a:lnTo>
                  <a:cubicBezTo>
                    <a:pt x="57404" y="4463415"/>
                    <a:pt x="0" y="4406138"/>
                    <a:pt x="0" y="4335399"/>
                  </a:cubicBezTo>
                  <a:close/>
                </a:path>
              </a:pathLst>
            </a:custGeom>
            <a:solidFill>
              <a:srgbClr val="f2ede5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Freeform 18">
              <a:extLst>
                <a:ext uri="{0AB40DBD-1E30-43E2-B382-6573A2B48F87}">
                  <a16:creationId xmlns:a16="http://schemas.microsoft.com/office/drawing/2010/main" id="{35DE760B-C128-400E-A886-EE3F0C309D87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6261100" cy="4476115"/>
            </a:xfrm>
            <a:custGeom>
              <a:avLst/>
              <a:gdLst/>
              <a:ahLst/>
              <a:cxnLst/>
              <a:rect b="b" l="0" r="r" t="0"/>
              <a:pathLst>
                <a:path h="4476115" w="6261101">
                  <a:moveTo>
                    <a:pt x="0" y="134366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6126608" y="0"/>
                  </a:lnTo>
                  <a:lnTo>
                    <a:pt x="6126608" y="6350"/>
                  </a:lnTo>
                  <a:lnTo>
                    <a:pt x="6126608" y="0"/>
                  </a:lnTo>
                  <a:cubicBezTo>
                    <a:pt x="6200902" y="0"/>
                    <a:pt x="6261101" y="60198"/>
                    <a:pt x="6261101" y="134366"/>
                  </a:cubicBezTo>
                  <a:lnTo>
                    <a:pt x="6254750" y="134366"/>
                  </a:lnTo>
                  <a:lnTo>
                    <a:pt x="6261101" y="134366"/>
                  </a:lnTo>
                  <a:lnTo>
                    <a:pt x="6261101" y="4341749"/>
                  </a:lnTo>
                  <a:lnTo>
                    <a:pt x="6254750" y="4341749"/>
                  </a:lnTo>
                  <a:lnTo>
                    <a:pt x="6261101" y="4341749"/>
                  </a:lnTo>
                  <a:cubicBezTo>
                    <a:pt x="6261101" y="4415917"/>
                    <a:pt x="6200902" y="4476115"/>
                    <a:pt x="6126608" y="4476115"/>
                  </a:cubicBezTo>
                  <a:lnTo>
                    <a:pt x="6126608" y="4469765"/>
                  </a:lnTo>
                  <a:lnTo>
                    <a:pt x="6126608" y="4476115"/>
                  </a:lnTo>
                  <a:lnTo>
                    <a:pt x="134493" y="4476115"/>
                  </a:lnTo>
                  <a:lnTo>
                    <a:pt x="134493" y="4469765"/>
                  </a:lnTo>
                  <a:lnTo>
                    <a:pt x="134493" y="4476115"/>
                  </a:lnTo>
                  <a:cubicBezTo>
                    <a:pt x="60198" y="4476115"/>
                    <a:pt x="0" y="4416044"/>
                    <a:pt x="0" y="4341749"/>
                  </a:cubicBezTo>
                  <a:lnTo>
                    <a:pt x="0" y="134366"/>
                  </a:lnTo>
                  <a:lnTo>
                    <a:pt x="6350" y="134366"/>
                  </a:lnTo>
                  <a:lnTo>
                    <a:pt x="0" y="134366"/>
                  </a:lnTo>
                  <a:moveTo>
                    <a:pt x="12700" y="134366"/>
                  </a:moveTo>
                  <a:lnTo>
                    <a:pt x="12700" y="4341749"/>
                  </a:lnTo>
                  <a:lnTo>
                    <a:pt x="6350" y="4341749"/>
                  </a:lnTo>
                  <a:lnTo>
                    <a:pt x="12700" y="4341749"/>
                  </a:lnTo>
                  <a:cubicBezTo>
                    <a:pt x="12700" y="4408932"/>
                    <a:pt x="67183" y="4463415"/>
                    <a:pt x="134493" y="4463415"/>
                  </a:cubicBezTo>
                  <a:lnTo>
                    <a:pt x="6126608" y="4463415"/>
                  </a:lnTo>
                  <a:cubicBezTo>
                    <a:pt x="6193917" y="4463415"/>
                    <a:pt x="6248400" y="4408932"/>
                    <a:pt x="6248400" y="4341749"/>
                  </a:cubicBezTo>
                  <a:lnTo>
                    <a:pt x="6248400" y="134366"/>
                  </a:lnTo>
                  <a:cubicBezTo>
                    <a:pt x="6248400" y="67183"/>
                    <a:pt x="6193917" y="12700"/>
                    <a:pt x="6126608" y="12700"/>
                  </a:cubicBezTo>
                  <a:lnTo>
                    <a:pt x="134493" y="12700"/>
                  </a:lnTo>
                  <a:lnTo>
                    <a:pt x="134493" y="6350"/>
                  </a:lnTo>
                  <a:lnTo>
                    <a:pt x="134493" y="12700"/>
                  </a:lnTo>
                  <a:cubicBezTo>
                    <a:pt x="67183" y="12700"/>
                    <a:pt x="12700" y="67183"/>
                    <a:pt x="12700" y="134366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9" name="Group 19">
            <a:extLst>
              <a:ext uri="{0EA6FDD9-2174-459F-9DB6-AC4EA45E62A6}">
                <a16:creationId xmlns:a16="http://schemas.microsoft.com/office/drawing/2010/main" id="{F3FFFDB2-EC42-4C0B-8143-97EC2F6C4CCE}"/>
              </a:ext>
            </a:extLst>
          </p:cNvPr>
          <p:cNvGrpSpPr/>
          <p:nvPr/>
        </p:nvGrpSpPr>
        <p:grpSpPr>
          <a:xfrm rot="0">
            <a:off x="12925425" y="3528422"/>
            <a:ext cx="685800" cy="685800"/>
            <a:chOff x="0" y="0"/>
            <a:chExt cx="914400" cy="914400"/>
          </a:xfrm>
        </p:grpSpPr>
        <p:sp>
          <p:nvSpPr>
            <p:cNvPr id="20" name="Freeform 20">
              <a:extLst>
                <a:ext uri="{90662B5B-C04E-4D5E-979F-F2A96A521BA7}">
                  <a16:creationId xmlns:a16="http://schemas.microsoft.com/office/drawing/2010/main" id="{56BF864F-B09E-4BE7-85EE-18B0D42756AE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b="b" l="0" r="r" t="0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21" name="Freeform 21">
            <a:extLst>
              <a:ext uri="{774DA546-8D19-452E-88AC-B9E9B575D3CA}">
                <a16:creationId xmlns:a16="http://schemas.microsoft.com/office/drawing/2010/main" id="{13D291AC-7B1B-4438-9A73-8B23C5C60C28}"/>
              </a:ext>
            </a:extLst>
          </p:cNvPr>
          <p:cNvSpPr/>
          <p:nvPr/>
        </p:nvSpPr>
        <p:spPr>
          <a:xfrm flipH="false" flipV="false" rot="0">
            <a:off x="13114068" y="3717064"/>
            <a:ext cx="308524" cy="308524"/>
          </a:xfrm>
          <a:custGeom>
            <a:avLst/>
            <a:gdLst/>
            <a:ahLst/>
            <a:cxnLst/>
            <a:rect b="b" l="0" r="r" t="0"/>
            <a:pathLst>
              <a:path h="308524" w="308524">
                <a:moveTo>
                  <a:pt x="0" y="0"/>
                </a:moveTo>
                <a:lnTo>
                  <a:pt x="308525" y="0"/>
                </a:lnTo>
                <a:lnTo>
                  <a:pt x="308525" y="308524"/>
                </a:lnTo>
                <a:lnTo>
                  <a:pt x="0" y="30852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tretch>
              <a:fillRect b="-9088" l="0" r="0" t="-9092"/>
            </a:stretch>
          </a:blipFill>
        </p:spPr>
      </p:sp>
      <p:sp>
        <p:nvSpPr>
          <p:cNvPr id="22" name="TextBox 22">
            <a:extLst>
              <a:ext uri="{6216DC66-3D43-4F95-8814-EB1091266C36}">
                <a16:creationId xmlns:a16="http://schemas.microsoft.com/office/drawing/2010/main" id="{60E7933C-BE57-48AE-9CB2-77D84D969C7A}"/>
              </a:ext>
            </a:extLst>
          </p:cNvPr>
          <p:cNvSpPr txBox="1"/>
          <p:nvPr/>
        </p:nvSpPr>
        <p:spPr>
          <a:xfrm rot="0">
            <a:off x="12925425" y="4433297"/>
            <a:ext cx="2914202" cy="35712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12"/>
              </a:lnSpc>
            </a:pPr>
            <a:r>
              <a:rPr dirty="0" lang="en-US" sz="2249">
                <a:solidFill>
                  <a:srgbClr val="4c4c4c"/>
                </a:solidFill>
                <a:latin typeface="Noto Serif"/>
              </a:rPr>
              <a:t>Frontend: </a:t>
            </a:r>
            <a:endParaRPr dirty="0" lang="en-US" sz="2249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23" name="TextBox 23">
            <a:extLst>
              <a:ext uri="{D213292B-04D1-4324-8C56-B3347DE9F797}">
                <a16:creationId xmlns:a16="http://schemas.microsoft.com/office/drawing/2010/main" id="{A3A3A585-474C-4CB2-BD60-F77509B5E774}"/>
              </a:ext>
            </a:extLst>
          </p:cNvPr>
          <p:cNvSpPr txBox="1"/>
          <p:nvPr/>
        </p:nvSpPr>
        <p:spPr>
          <a:xfrm rot="0">
            <a:off x="12925425" y="4870399"/>
            <a:ext cx="4210050" cy="729996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4"/>
              </a:lnSpc>
            </a:pPr>
            <a:r>
              <a:rPr dirty="0" lang="en-US" sz="1750">
                <a:solidFill>
                  <a:srgbClr val="4c4c4c"/>
                </a:solidFill>
                <a:latin typeface="Noto Serif"/>
              </a:rPr>
              <a:t>Thymeleaf</a:t>
            </a:r>
            <a:r>
              <a:rPr dirty="0" lang="en-US" sz="1750">
                <a:solidFill>
                  <a:srgbClr val="4c4c4c"/>
                </a:solidFill>
                <a:latin typeface="Noto Serif"/>
              </a:rPr>
              <a:t> templates </a:t>
            </a:r>
            <a:br>
              <a:rPr dirty="0" lang="en-US" sz="1750">
                <a:solidFill>
                  <a:srgbClr val="4c4c4c"/>
                </a:solidFill>
                <a:latin typeface="Noto Serif"/>
              </a:rPr>
            </a:br>
            <a:r>
              <a:rPr dirty="0" lang="en-US" sz="1750">
                <a:solidFill>
                  <a:srgbClr val="4c4c4c"/>
                </a:solidFill>
                <a:latin typeface="Noto Serif"/>
              </a:rPr>
              <a:t>HTML / CSS / JavaScript</a:t>
            </a:r>
            <a:endParaRPr dirty="0" lang="en-US" sz="1750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24" name="Group 24">
            <a:extLst>
              <a:ext uri="{6F5F2437-98AC-45BF-B333-190E5231888F}">
                <a16:creationId xmlns:a16="http://schemas.microsoft.com/office/drawing/2010/main" id="{5572C7FF-499A-48F6-91BC-1A5993387646}"/>
              </a:ext>
            </a:extLst>
          </p:cNvPr>
          <p:cNvGrpSpPr/>
          <p:nvPr/>
        </p:nvGrpSpPr>
        <p:grpSpPr>
          <a:xfrm rot="0">
            <a:off x="7767637" y="6861724"/>
            <a:ext cx="4695825" cy="2625775"/>
            <a:chOff x="0" y="0"/>
            <a:chExt cx="12814300" cy="3501034"/>
          </a:xfrm>
        </p:grpSpPr>
        <p:sp>
          <p:nvSpPr>
            <p:cNvPr id="25" name="Freeform 25">
              <a:extLst>
                <a:ext uri="{AE5D00E7-81EB-47E5-99D1-657140E695B9}">
                  <a16:creationId xmlns:a16="http://schemas.microsoft.com/office/drawing/2010/main" id="{8FE27531-2FA9-456C-A689-89018E1C43AA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12801600" cy="3488309"/>
            </a:xfrm>
            <a:custGeom>
              <a:avLst/>
              <a:gdLst/>
              <a:ahLst/>
              <a:cxnLst/>
              <a:rect b="b" l="0" r="r" t="0"/>
              <a:pathLst>
                <a:path h="3488309" w="12801600">
                  <a:moveTo>
                    <a:pt x="0" y="128016"/>
                  </a:moveTo>
                  <a:cubicBezTo>
                    <a:pt x="0" y="57277"/>
                    <a:pt x="57531" y="0"/>
                    <a:pt x="128397" y="0"/>
                  </a:cubicBezTo>
                  <a:lnTo>
                    <a:pt x="12673203" y="0"/>
                  </a:lnTo>
                  <a:cubicBezTo>
                    <a:pt x="12744068" y="0"/>
                    <a:pt x="12801600" y="57277"/>
                    <a:pt x="12801600" y="128016"/>
                  </a:cubicBezTo>
                  <a:lnTo>
                    <a:pt x="12801600" y="3360293"/>
                  </a:lnTo>
                  <a:cubicBezTo>
                    <a:pt x="12801600" y="3431032"/>
                    <a:pt x="12744068" y="3488309"/>
                    <a:pt x="12673203" y="3488309"/>
                  </a:cubicBezTo>
                  <a:lnTo>
                    <a:pt x="128397" y="3488309"/>
                  </a:lnTo>
                  <a:cubicBezTo>
                    <a:pt x="57531" y="3488309"/>
                    <a:pt x="0" y="3431032"/>
                    <a:pt x="0" y="3360293"/>
                  </a:cubicBezTo>
                  <a:close/>
                </a:path>
              </a:pathLst>
            </a:custGeom>
            <a:solidFill>
              <a:srgbClr val="f2ede5"/>
            </a:solidFill>
            <a:ln w="12700">
              <a:solidFill>
                <a:srgbClr val="000000"/>
              </a:solidFill>
            </a:ln>
          </p:spPr>
        </p:sp>
        <p:sp>
          <p:nvSpPr>
            <p:cNvPr id="26" name="Freeform 26">
              <a:extLst>
                <a:ext uri="{5B7478F5-FE9D-46E8-B4CA-924D5B4B5C73}">
                  <a16:creationId xmlns:a16="http://schemas.microsoft.com/office/drawing/2010/main" id="{A112121B-DCBA-4999-89FA-E63D8F228ED6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2814300" cy="3501009"/>
            </a:xfrm>
            <a:custGeom>
              <a:avLst/>
              <a:gdLst/>
              <a:ahLst/>
              <a:cxnLst/>
              <a:rect b="b" l="0" r="r" t="0"/>
              <a:pathLst>
                <a:path h="3501009" w="12814300">
                  <a:moveTo>
                    <a:pt x="0" y="134366"/>
                  </a:moveTo>
                  <a:cubicBezTo>
                    <a:pt x="0" y="60198"/>
                    <a:pt x="60325" y="0"/>
                    <a:pt x="134747" y="0"/>
                  </a:cubicBezTo>
                  <a:lnTo>
                    <a:pt x="12679553" y="0"/>
                  </a:lnTo>
                  <a:lnTo>
                    <a:pt x="12679553" y="6350"/>
                  </a:lnTo>
                  <a:lnTo>
                    <a:pt x="12679553" y="0"/>
                  </a:lnTo>
                  <a:cubicBezTo>
                    <a:pt x="12753975" y="0"/>
                    <a:pt x="12814300" y="60198"/>
                    <a:pt x="12814300" y="134366"/>
                  </a:cubicBezTo>
                  <a:lnTo>
                    <a:pt x="12807951" y="134366"/>
                  </a:lnTo>
                  <a:lnTo>
                    <a:pt x="12814300" y="134366"/>
                  </a:lnTo>
                  <a:lnTo>
                    <a:pt x="12814300" y="3366643"/>
                  </a:lnTo>
                  <a:lnTo>
                    <a:pt x="12807951" y="3366643"/>
                  </a:lnTo>
                  <a:lnTo>
                    <a:pt x="12814300" y="3366643"/>
                  </a:lnTo>
                  <a:cubicBezTo>
                    <a:pt x="12814300" y="3440811"/>
                    <a:pt x="12753975" y="3501009"/>
                    <a:pt x="12679553" y="3501009"/>
                  </a:cubicBezTo>
                  <a:lnTo>
                    <a:pt x="12679553" y="3494659"/>
                  </a:lnTo>
                  <a:lnTo>
                    <a:pt x="12679553" y="3501009"/>
                  </a:lnTo>
                  <a:lnTo>
                    <a:pt x="134747" y="3501009"/>
                  </a:lnTo>
                  <a:lnTo>
                    <a:pt x="134747" y="3494659"/>
                  </a:lnTo>
                  <a:lnTo>
                    <a:pt x="134747" y="3501009"/>
                  </a:lnTo>
                  <a:cubicBezTo>
                    <a:pt x="60325" y="3501009"/>
                    <a:pt x="0" y="3440938"/>
                    <a:pt x="0" y="3366643"/>
                  </a:cubicBezTo>
                  <a:lnTo>
                    <a:pt x="0" y="134366"/>
                  </a:lnTo>
                  <a:lnTo>
                    <a:pt x="6350" y="134366"/>
                  </a:lnTo>
                  <a:lnTo>
                    <a:pt x="0" y="134366"/>
                  </a:lnTo>
                  <a:moveTo>
                    <a:pt x="12700" y="134366"/>
                  </a:moveTo>
                  <a:lnTo>
                    <a:pt x="12700" y="3366643"/>
                  </a:lnTo>
                  <a:lnTo>
                    <a:pt x="6350" y="3366643"/>
                  </a:lnTo>
                  <a:lnTo>
                    <a:pt x="12700" y="3366643"/>
                  </a:lnTo>
                  <a:cubicBezTo>
                    <a:pt x="12700" y="3433826"/>
                    <a:pt x="67310" y="3488309"/>
                    <a:pt x="134747" y="3488309"/>
                  </a:cubicBezTo>
                  <a:lnTo>
                    <a:pt x="12679553" y="3488309"/>
                  </a:lnTo>
                  <a:cubicBezTo>
                    <a:pt x="12746991" y="3488309"/>
                    <a:pt x="12801600" y="3433826"/>
                    <a:pt x="12801600" y="3366643"/>
                  </a:cubicBezTo>
                  <a:lnTo>
                    <a:pt x="12801600" y="134366"/>
                  </a:lnTo>
                  <a:cubicBezTo>
                    <a:pt x="12801600" y="67183"/>
                    <a:pt x="12746991" y="12700"/>
                    <a:pt x="12679553" y="12700"/>
                  </a:cubicBezTo>
                  <a:lnTo>
                    <a:pt x="134747" y="12700"/>
                  </a:lnTo>
                  <a:lnTo>
                    <a:pt x="134747" y="6350"/>
                  </a:lnTo>
                  <a:lnTo>
                    <a:pt x="134747" y="12700"/>
                  </a:lnTo>
                  <a:cubicBezTo>
                    <a:pt x="67310" y="12700"/>
                    <a:pt x="12700" y="67183"/>
                    <a:pt x="12700" y="134366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7" name="Group 27">
            <a:extLst>
              <a:ext uri="{7FC4DBD0-E676-4FDB-8C64-EDC76EA3B014}">
                <a16:creationId xmlns:a16="http://schemas.microsoft.com/office/drawing/2010/main" id="{32460497-D978-44A6-B7FB-B77AC94621BE}"/>
              </a:ext>
            </a:extLst>
          </p:cNvPr>
          <p:cNvGrpSpPr/>
          <p:nvPr/>
        </p:nvGrpSpPr>
        <p:grpSpPr>
          <a:xfrm rot="0">
            <a:off x="8010525" y="7104612"/>
            <a:ext cx="685800" cy="685800"/>
            <a:chOff x="0" y="0"/>
            <a:chExt cx="914400" cy="914400"/>
          </a:xfrm>
        </p:grpSpPr>
        <p:sp>
          <p:nvSpPr>
            <p:cNvPr id="28" name="Freeform 28">
              <a:extLst>
                <a:ext uri="{B2A9D86A-C82F-485D-A569-A38C45C1FC3E}">
                  <a16:creationId xmlns:a16="http://schemas.microsoft.com/office/drawing/2010/main" id="{D16E0E92-1690-4C1F-B3DA-22D16B4D20BD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b="b" l="0" r="r" t="0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29" name="Freeform 29">
            <a:extLst>
              <a:ext uri="{E8BD72FC-8327-43EF-A077-98E05EE8851B}">
                <a16:creationId xmlns:a16="http://schemas.microsoft.com/office/drawing/2010/main" id="{765608CF-4AAF-47FB-88E8-8FF61F446ED5}"/>
              </a:ext>
            </a:extLst>
          </p:cNvPr>
          <p:cNvSpPr/>
          <p:nvPr/>
        </p:nvSpPr>
        <p:spPr>
          <a:xfrm flipH="false" flipV="false" rot="0">
            <a:off x="8199090" y="7293178"/>
            <a:ext cx="308524" cy="308524"/>
          </a:xfrm>
          <a:custGeom>
            <a:avLst/>
            <a:gdLst/>
            <a:ahLst/>
            <a:cxnLst/>
            <a:rect b="b" l="0" r="r" t="0"/>
            <a:pathLst>
              <a:path h="308524" w="308524">
                <a:moveTo>
                  <a:pt x="0" y="0"/>
                </a:moveTo>
                <a:lnTo>
                  <a:pt x="308525" y="0"/>
                </a:lnTo>
                <a:lnTo>
                  <a:pt x="308525" y="308524"/>
                </a:lnTo>
                <a:lnTo>
                  <a:pt x="0" y="30852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 b="0" l="-1515" r="-1512" t="0"/>
            </a:stretch>
          </a:blipFill>
        </p:spPr>
      </p:sp>
      <p:sp>
        <p:nvSpPr>
          <p:cNvPr id="30" name="TextBox 30">
            <a:extLst>
              <a:ext uri="{05B03EF9-68B7-4B7F-873B-CB717B3340C5}">
                <a16:creationId xmlns:a16="http://schemas.microsoft.com/office/drawing/2010/main" id="{22DEB21D-6210-4132-B229-06C3677149E3}"/>
              </a:ext>
            </a:extLst>
          </p:cNvPr>
          <p:cNvSpPr txBox="1"/>
          <p:nvPr/>
        </p:nvSpPr>
        <p:spPr>
          <a:xfrm rot="0">
            <a:off x="8010525" y="8009486"/>
            <a:ext cx="2857652" cy="35712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12"/>
              </a:lnSpc>
            </a:pPr>
            <a:r>
              <a:rPr dirty="0" lang="en-US" sz="2249">
                <a:solidFill>
                  <a:srgbClr val="4c4c4c"/>
                </a:solidFill>
                <a:latin typeface="Noto Serif"/>
              </a:rPr>
              <a:t>Development Tools:</a:t>
            </a:r>
            <a:endParaRPr dirty="0" lang="en-US" sz="2249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31" name="TextBox 31">
            <a:extLst>
              <a:ext uri="{118C731F-9153-4CBF-9646-6393F02B4282}">
                <a16:creationId xmlns:a16="http://schemas.microsoft.com/office/drawing/2010/main" id="{D1DAC04D-29A0-4F79-91CC-7A37503AF60D}"/>
              </a:ext>
            </a:extLst>
          </p:cNvPr>
          <p:cNvSpPr txBox="1"/>
          <p:nvPr/>
        </p:nvSpPr>
        <p:spPr>
          <a:xfrm rot="0">
            <a:off x="8010525" y="8446589"/>
            <a:ext cx="9124950" cy="36499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4"/>
              </a:lnSpc>
            </a:pPr>
            <a:r>
              <a:rPr dirty="0" lang="en-US" sz="1750">
                <a:solidFill>
                  <a:srgbClr val="4c4c4c"/>
                </a:solidFill>
                <a:latin typeface="Noto Serif"/>
              </a:rPr>
              <a:t>IntelliJ</a:t>
            </a:r>
            <a:r>
              <a:rPr dirty="0" lang="en-US" sz="1750">
                <a:solidFill>
                  <a:srgbClr val="4c4c4c"/>
                </a:solidFill>
                <a:latin typeface="Noto Serif"/>
              </a:rPr>
              <a:t> IDEA, GitHub</a:t>
            </a:r>
            <a:endParaRPr dirty="0" lang="en-US" sz="1750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32" name="Group Shape 20">
            <a:extLst>
              <a:ext uri="{26008EC3-F1A7-4DFF-869D-308FCAC3CA90}">
                <a16:creationId xmlns:a16="http://schemas.microsoft.com/office/drawing/2010/main" id="{780267B8-9814-4FEF-969E-CF2ECAE97593}"/>
              </a:ext>
            </a:extLst>
          </p:cNvPr>
          <p:cNvGrpSpPr/>
          <p:nvPr/>
        </p:nvGrpSpPr>
        <p:grpSpPr>
          <a:xfrm rot="0">
            <a:off x="12706349" y="6829425"/>
            <a:ext cx="4695825" cy="2625775"/>
            <a:chOff x="0" y="0"/>
            <a:chExt cx="12814300" cy="3501034"/>
          </a:xfrm>
        </p:grpSpPr>
        <p:sp>
          <p:nvSpPr>
            <p:cNvPr id="33" name="Freeform 25">
              <a:extLst>
                <a:ext uri="{E5B07375-5743-429B-9134-73F8E7EB7113}">
                  <a16:creationId xmlns:a16="http://schemas.microsoft.com/office/drawing/2010/main" id="{8DE17B3A-566E-494B-A522-D01D258ADB69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12801600" cy="3488309"/>
            </a:xfrm>
            <a:custGeom>
              <a:avLst/>
              <a:gdLst/>
              <a:ahLst/>
              <a:cxnLst/>
              <a:rect b="b" l="0" r="r" t="0"/>
              <a:pathLst>
                <a:path h="3488309" w="12801600">
                  <a:moveTo>
                    <a:pt x="0" y="128016"/>
                  </a:moveTo>
                  <a:cubicBezTo>
                    <a:pt x="0" y="57277"/>
                    <a:pt x="57531" y="0"/>
                    <a:pt x="128397" y="0"/>
                  </a:cubicBezTo>
                  <a:lnTo>
                    <a:pt x="12673203" y="0"/>
                  </a:lnTo>
                  <a:cubicBezTo>
                    <a:pt x="12744068" y="0"/>
                    <a:pt x="12801600" y="57277"/>
                    <a:pt x="12801600" y="128016"/>
                  </a:cubicBezTo>
                  <a:lnTo>
                    <a:pt x="12801600" y="3360293"/>
                  </a:lnTo>
                  <a:cubicBezTo>
                    <a:pt x="12801600" y="3431032"/>
                    <a:pt x="12744068" y="3488309"/>
                    <a:pt x="12673203" y="3488309"/>
                  </a:cubicBezTo>
                  <a:lnTo>
                    <a:pt x="128397" y="3488309"/>
                  </a:lnTo>
                  <a:cubicBezTo>
                    <a:pt x="57531" y="3488309"/>
                    <a:pt x="0" y="3431032"/>
                    <a:pt x="0" y="3360293"/>
                  </a:cubicBezTo>
                  <a:close/>
                </a:path>
              </a:pathLst>
            </a:custGeom>
            <a:solidFill>
              <a:srgbClr val="f2ede5"/>
            </a:solidFill>
            <a:ln w="12700">
              <a:solidFill>
                <a:srgbClr val="000000"/>
              </a:solidFill>
            </a:ln>
          </p:spPr>
        </p:sp>
        <p:sp>
          <p:nvSpPr>
            <p:cNvPr id="34" name="Freeform 26">
              <a:extLst>
                <a:ext uri="{E745B48B-B30F-43DC-9168-551572C08DC0}">
                  <a16:creationId xmlns:a16="http://schemas.microsoft.com/office/drawing/2010/main" id="{2674347E-B4AB-4D69-A760-C347CD340E1B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2814300" cy="3501009"/>
            </a:xfrm>
            <a:custGeom>
              <a:avLst/>
              <a:gdLst/>
              <a:ahLst/>
              <a:cxnLst/>
              <a:rect b="b" l="0" r="r" t="0"/>
              <a:pathLst>
                <a:path h="3501009" w="12814300">
                  <a:moveTo>
                    <a:pt x="0" y="134366"/>
                  </a:moveTo>
                  <a:cubicBezTo>
                    <a:pt x="0" y="60198"/>
                    <a:pt x="60325" y="0"/>
                    <a:pt x="134747" y="0"/>
                  </a:cubicBezTo>
                  <a:lnTo>
                    <a:pt x="12679553" y="0"/>
                  </a:lnTo>
                  <a:lnTo>
                    <a:pt x="12679553" y="6350"/>
                  </a:lnTo>
                  <a:lnTo>
                    <a:pt x="12679553" y="0"/>
                  </a:lnTo>
                  <a:cubicBezTo>
                    <a:pt x="12753975" y="0"/>
                    <a:pt x="12814300" y="60198"/>
                    <a:pt x="12814300" y="134366"/>
                  </a:cubicBezTo>
                  <a:lnTo>
                    <a:pt x="12807951" y="134366"/>
                  </a:lnTo>
                  <a:lnTo>
                    <a:pt x="12814300" y="134366"/>
                  </a:lnTo>
                  <a:lnTo>
                    <a:pt x="12814300" y="3366643"/>
                  </a:lnTo>
                  <a:lnTo>
                    <a:pt x="12807951" y="3366643"/>
                  </a:lnTo>
                  <a:lnTo>
                    <a:pt x="12814300" y="3366643"/>
                  </a:lnTo>
                  <a:cubicBezTo>
                    <a:pt x="12814300" y="3440811"/>
                    <a:pt x="12753975" y="3501009"/>
                    <a:pt x="12679553" y="3501009"/>
                  </a:cubicBezTo>
                  <a:lnTo>
                    <a:pt x="12679553" y="3494659"/>
                  </a:lnTo>
                  <a:lnTo>
                    <a:pt x="12679553" y="3501009"/>
                  </a:lnTo>
                  <a:lnTo>
                    <a:pt x="134747" y="3501009"/>
                  </a:lnTo>
                  <a:lnTo>
                    <a:pt x="134747" y="3494659"/>
                  </a:lnTo>
                  <a:lnTo>
                    <a:pt x="134747" y="3501009"/>
                  </a:lnTo>
                  <a:cubicBezTo>
                    <a:pt x="60325" y="3501009"/>
                    <a:pt x="0" y="3440938"/>
                    <a:pt x="0" y="3366643"/>
                  </a:cubicBezTo>
                  <a:lnTo>
                    <a:pt x="0" y="134366"/>
                  </a:lnTo>
                  <a:lnTo>
                    <a:pt x="6350" y="134366"/>
                  </a:lnTo>
                  <a:lnTo>
                    <a:pt x="0" y="134366"/>
                  </a:lnTo>
                  <a:moveTo>
                    <a:pt x="12700" y="134366"/>
                  </a:moveTo>
                  <a:lnTo>
                    <a:pt x="12700" y="3366643"/>
                  </a:lnTo>
                  <a:lnTo>
                    <a:pt x="6350" y="3366643"/>
                  </a:lnTo>
                  <a:lnTo>
                    <a:pt x="12700" y="3366643"/>
                  </a:lnTo>
                  <a:cubicBezTo>
                    <a:pt x="12700" y="3433826"/>
                    <a:pt x="67310" y="3488309"/>
                    <a:pt x="134747" y="3488309"/>
                  </a:cubicBezTo>
                  <a:lnTo>
                    <a:pt x="12679553" y="3488309"/>
                  </a:lnTo>
                  <a:cubicBezTo>
                    <a:pt x="12746991" y="3488309"/>
                    <a:pt x="12801600" y="3433826"/>
                    <a:pt x="12801600" y="3366643"/>
                  </a:cubicBezTo>
                  <a:lnTo>
                    <a:pt x="12801600" y="134366"/>
                  </a:lnTo>
                  <a:cubicBezTo>
                    <a:pt x="12801600" y="67183"/>
                    <a:pt x="12746991" y="12700"/>
                    <a:pt x="12679553" y="12700"/>
                  </a:cubicBezTo>
                  <a:lnTo>
                    <a:pt x="134747" y="12700"/>
                  </a:lnTo>
                  <a:lnTo>
                    <a:pt x="134747" y="6350"/>
                  </a:lnTo>
                  <a:lnTo>
                    <a:pt x="134747" y="12700"/>
                  </a:lnTo>
                  <a:cubicBezTo>
                    <a:pt x="67310" y="12700"/>
                    <a:pt x="12700" y="67183"/>
                    <a:pt x="12700" y="134366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5" name="Group Shape 25">
            <a:extLst>
              <a:ext uri="{EB28E0F4-7A61-4DD0-801A-B600766CB804}">
                <a16:creationId xmlns:a16="http://schemas.microsoft.com/office/drawing/2010/main" id="{C53A816E-425A-4FCF-8D83-C369F6BE086E}"/>
              </a:ext>
            </a:extLst>
          </p:cNvPr>
          <p:cNvGrpSpPr/>
          <p:nvPr/>
        </p:nvGrpSpPr>
        <p:grpSpPr>
          <a:xfrm rot="0">
            <a:off x="12925425" y="7048500"/>
            <a:ext cx="685800" cy="685800"/>
            <a:chOff x="0" y="0"/>
            <a:chExt cx="914400" cy="914400"/>
          </a:xfrm>
        </p:grpSpPr>
        <p:sp>
          <p:nvSpPr>
            <p:cNvPr id="36" name="Freeform 20">
              <a:extLst>
                <a:ext uri="{A3EE469F-8E0B-40C5-9DA1-78A66583DD04}">
                  <a16:creationId xmlns:a16="http://schemas.microsoft.com/office/drawing/2010/main" id="{ABA6FAE9-ED16-48FE-AA69-8262AD4005AB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b="b" l="0" r="r" t="0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37" name="Freeform 26">
            <a:extLst>
              <a:ext uri="{7A23C2AB-A1DA-41C0-AB8A-257595C83E5A}">
                <a16:creationId xmlns:a16="http://schemas.microsoft.com/office/drawing/2010/main" id="{3621D1EB-727F-42A1-A091-4BE850F4E72A}"/>
              </a:ext>
            </a:extLst>
          </p:cNvPr>
          <p:cNvSpPr/>
          <p:nvPr/>
        </p:nvSpPr>
        <p:spPr>
          <a:xfrm flipH="false" flipV="false" rot="0">
            <a:off x="13114068" y="7237142"/>
            <a:ext cx="308524" cy="308524"/>
          </a:xfrm>
          <a:custGeom>
            <a:avLst/>
            <a:gdLst/>
            <a:ahLst/>
            <a:cxnLst/>
            <a:rect b="b" l="0" r="r" t="0"/>
            <a:pathLst>
              <a:path h="308524" w="308524">
                <a:moveTo>
                  <a:pt x="0" y="0"/>
                </a:moveTo>
                <a:lnTo>
                  <a:pt x="308525" y="0"/>
                </a:lnTo>
                <a:lnTo>
                  <a:pt x="308525" y="308524"/>
                </a:lnTo>
                <a:lnTo>
                  <a:pt x="0" y="30852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tretch>
              <a:fillRect b="-9088" l="0" r="0" t="-9092"/>
            </a:stretch>
          </a:blipFill>
        </p:spPr>
      </p:sp>
      <p:sp>
        <p:nvSpPr>
          <p:cNvPr id="38" name="Text Box 28">
            <a:extLst>
              <a:ext uri="{84767AB4-6AB8-4FC9-B052-EC79A4492749}">
                <a16:creationId xmlns:a16="http://schemas.microsoft.com/office/drawing/2010/main" id="{059DD38C-D202-4B75-90C0-8CD7471A12A8}"/>
              </a:ext>
            </a:extLst>
          </p:cNvPr>
          <p:cNvSpPr txBox="1"/>
          <p:nvPr/>
        </p:nvSpPr>
        <p:spPr>
          <a:xfrm flipH="false" flipV="false" rot="0">
            <a:off x="12925425" y="7981950"/>
            <a:ext cx="3300412" cy="452370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l" rtl="false">
              <a:lnSpc>
                <a:spcPts val="2812"/>
              </a:lnSpc>
              <a:spcBef>
                <a:spcPts val="0"/>
              </a:spcBef>
              <a:spcAft>
                <a:spcPts val="0"/>
              </a:spcAft>
              <a:defRPr dirty="0" lang="en-US" sz="1400"/>
            </a:pPr>
            <a:r>
              <a:rPr dirty="0" lang="en-US" sz="2249">
                <a:solidFill>
                  <a:srgbClr val="4c4c4c"/>
                </a:solidFill>
                <a:latin typeface="Noto Serif"/>
              </a:rPr>
              <a:t>Additional Utilities:</a:t>
            </a:r>
            <a:endParaRPr dirty="0" lang="en-US" sz="2249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39" name="Text Box 32">
            <a:extLst>
              <a:ext uri="{A1940B87-55C9-42ED-B381-19071BDEA673}">
                <a16:creationId xmlns:a16="http://schemas.microsoft.com/office/drawing/2010/main" id="{A68DFA03-9448-47DC-B00E-4485682DC95F}"/>
              </a:ext>
            </a:extLst>
          </p:cNvPr>
          <p:cNvSpPr txBox="1"/>
          <p:nvPr/>
        </p:nvSpPr>
        <p:spPr>
          <a:xfrm flipH="false" flipV="false" rot="0">
            <a:off x="12925425" y="8439150"/>
            <a:ext cx="3734590" cy="361883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 sz="1750">
                <a:solidFill>
                  <a:srgbClr val="4c4c4c"/>
                </a:solidFill>
                <a:latin typeface="Noto Serif"/>
              </a:rPr>
              <a:t>CSV (</a:t>
            </a:r>
            <a:r>
              <a:rPr dirty="0" lang="en-US" sz="1750">
                <a:solidFill>
                  <a:srgbClr val="4c4c4c"/>
                </a:solidFill>
                <a:latin typeface="Noto Serif"/>
              </a:rPr>
              <a:t>OpenCSV</a:t>
            </a:r>
            <a:r>
              <a:rPr dirty="0" lang="en-US" sz="1750">
                <a:solidFill>
                  <a:srgbClr val="4c4c4c"/>
                </a:solidFill>
                <a:latin typeface="Noto Serif"/>
              </a:rPr>
              <a:t>), Java Email API</a:t>
            </a:r>
            <a:endParaRPr dirty="0" lang="en-US" sz="1750">
              <a:solidFill>
                <a:srgbClr val="4c4c4c"/>
              </a:solidFill>
              <a:latin typeface="Noto Serif"/>
            </a:endParaRPr>
          </a:p>
        </p:txBody>
      </p:sp>
    </p:spTree>
    <p:extLst>
      <p:ext uri="{E92B39ED-5275-4A0F-95E6-339CD4FA7A46}">
        <p14:creationId xmlns:p14="http://schemas.microsoft.com/office/powerpoint/2010/main" val="1769609807903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101D31FC-D3C9-4942-8193-6288F03B1619}">
                <a16:creationId xmlns:a16="http://schemas.microsoft.com/office/drawing/2010/main" id="{F5F5C730-72F4-4157-870C-E91A4A66E119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9477EAA5-C6A8-4372-AB5B-6C02B89DC8FE}">
                  <a16:creationId xmlns:a16="http://schemas.microsoft.com/office/drawing/2010/main" id="{5FA7B7CE-92A3-47CB-B274-A21F89ACF89F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824D82F5-FEFF-4930-A655-F2C57124B8E9}">
                <a16:creationId xmlns:a16="http://schemas.microsoft.com/office/drawing/2010/main" id="{AD01F442-2BAB-49F7-A9E4-F3CCB66DA7CC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238DCC8-AB1F-43A7-960A-D07EFAA06101}">
                  <a16:creationId xmlns:a16="http://schemas.microsoft.com/office/drawing/2010/main" id="{E0FF4F43-C6D8-4E13-AB74-F4D15628C5F4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>
            <a:extLst>
              <a:ext uri="{F66B894F-FBD5-4163-ACF0-184980DDB60A}">
                <a16:creationId xmlns:a16="http://schemas.microsoft.com/office/drawing/2010/main" id="{FCE64DFF-D043-4AA9-AE41-0E891ED58169}"/>
              </a:ext>
            </a:extLst>
          </p:cNvPr>
          <p:cNvSpPr txBox="1"/>
          <p:nvPr/>
        </p:nvSpPr>
        <p:spPr>
          <a:xfrm rot="0">
            <a:off x="2748410" y="467467"/>
            <a:ext cx="10968628" cy="57194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4312"/>
              </a:lnSpc>
            </a:pPr>
            <a:r>
              <a:rPr dirty="0" lang="en-US" sz="3437">
                <a:solidFill>
                  <a:srgbClr val="3a3a3a"/>
                </a:solidFill>
                <a:latin typeface="Noto Serif"/>
              </a:rPr>
              <a:t>System Architecture: A Structured Approach (</a:t>
            </a:r>
            <a:r>
              <a:rPr dirty="0" lang="en-US" sz="3437">
                <a:solidFill>
                  <a:srgbClr val="3a3a3a"/>
                </a:solidFill>
                <a:latin typeface="Noto Serif"/>
              </a:rPr>
              <a:t>MVC</a:t>
            </a:r>
            <a:r>
              <a:rPr dirty="0" lang="en-US" sz="3437">
                <a:solidFill>
                  <a:srgbClr val="3a3a3a"/>
                </a:solidFill>
                <a:latin typeface="Noto Serif"/>
              </a:rPr>
              <a:t>)</a:t>
            </a:r>
            <a:endParaRPr dirty="0" lang="en-US" sz="3437">
              <a:solidFill>
                <a:srgbClr val="3a3a3a"/>
              </a:solidFill>
              <a:latin typeface="Noto Serif"/>
            </a:endParaRPr>
          </a:p>
        </p:txBody>
      </p:sp>
      <p:sp>
        <p:nvSpPr>
          <p:cNvPr descr="preencoded.png" id="7" name="Freeform 7">
            <a:extLst>
              <a:ext uri="{F287091F-2FFC-4E63-89C7-13AB83D8583C}">
                <a16:creationId xmlns:a16="http://schemas.microsoft.com/office/drawing/2010/main" id="{64CCEE1B-F992-4733-87BE-A7DB426EE26F}"/>
              </a:ext>
            </a:extLst>
          </p:cNvPr>
          <p:cNvSpPr/>
          <p:nvPr/>
        </p:nvSpPr>
        <p:spPr>
          <a:xfrm flipH="false" flipV="false" rot="0">
            <a:off x="678684" y="1400175"/>
            <a:ext cx="8391525" cy="5638800"/>
          </a:xfrm>
          <a:custGeom>
            <a:avLst/>
            <a:gdLst/>
            <a:ahLst/>
            <a:cxnLst/>
            <a:rect b="b" l="0" r="r" t="0"/>
            <a:pathLst>
              <a:path h="5845226" w="8640070">
                <a:moveTo>
                  <a:pt x="0" y="0"/>
                </a:moveTo>
                <a:lnTo>
                  <a:pt x="8640070" y="0"/>
                </a:lnTo>
                <a:lnTo>
                  <a:pt x="8640070" y="5845226"/>
                </a:lnTo>
                <a:lnTo>
                  <a:pt x="0" y="584522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 b="-31" l="0" r="0" t="-31"/>
            </a:stretch>
          </a:blipFill>
        </p:spPr>
      </p:sp>
      <p:sp>
        <p:nvSpPr>
          <p:cNvPr id="8" name="TextBox 8">
            <a:extLst>
              <a:ext uri="{C5165F7F-9C00-4B23-AA85-3D4056E9B249}">
                <a16:creationId xmlns:a16="http://schemas.microsoft.com/office/drawing/2010/main" id="{205339CE-4369-42D8-87BC-57625C737CAD}"/>
              </a:ext>
            </a:extLst>
          </p:cNvPr>
          <p:cNvSpPr txBox="1"/>
          <p:nvPr/>
        </p:nvSpPr>
        <p:spPr>
          <a:xfrm rot="0">
            <a:off x="4087796" y="3593687"/>
            <a:ext cx="1573292" cy="107924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2062"/>
              </a:lnSpc>
            </a:pPr>
            <a:r>
              <a:rPr dirty="0" lang="en-US" sz="1687">
                <a:solidFill>
                  <a:srgbClr val="000000"/>
                </a:solidFill>
                <a:latin typeface="Noto Serif"/>
              </a:rPr>
              <a:t>MVC</a:t>
            </a:r>
            <a:r>
              <a:rPr dirty="0" lang="en-US" sz="1687">
                <a:solidFill>
                  <a:srgbClr val="000000"/>
                </a:solidFill>
                <a:latin typeface="Noto Serif"/>
              </a:rPr>
              <a:t> Interaction Flow</a:t>
            </a:r>
            <a:endParaRPr dirty="0" lang="en-US" sz="1687">
              <a:solidFill>
                <a:srgbClr val="000000"/>
              </a:solidFill>
              <a:latin typeface="Noto Serif"/>
            </a:endParaRPr>
          </a:p>
        </p:txBody>
      </p:sp>
      <p:sp>
        <p:nvSpPr>
          <p:cNvPr id="9" name="TextBox 9">
            <a:extLst>
              <a:ext uri="{39EC2BAE-6D5E-4498-A470-A63E507894E6}">
                <a16:creationId xmlns:a16="http://schemas.microsoft.com/office/drawing/2010/main" id="{30B2A183-394C-46E7-82E1-A71E4EA576C2}"/>
              </a:ext>
            </a:extLst>
          </p:cNvPr>
          <p:cNvSpPr txBox="1"/>
          <p:nvPr/>
        </p:nvSpPr>
        <p:spPr>
          <a:xfrm rot="0">
            <a:off x="6323457" y="5473388"/>
            <a:ext cx="2340550" cy="71949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2062"/>
              </a:lnSpc>
            </a:pPr>
            <a:r>
              <a:rPr dirty="0" lang="en-US" sz="1687">
                <a:solidFill>
                  <a:srgbClr val="4c4c4c"/>
                </a:solidFill>
                <a:latin typeface="Noto Serif"/>
              </a:rPr>
              <a:t>Frontend (</a:t>
            </a:r>
            <a:r>
              <a:rPr dirty="0" lang="en-US" sz="1687">
                <a:solidFill>
                  <a:srgbClr val="4c4c4c"/>
                </a:solidFill>
                <a:latin typeface="Noto Serif"/>
              </a:rPr>
              <a:t>Thymeleaf</a:t>
            </a:r>
            <a:r>
              <a:rPr dirty="0" lang="en-US" sz="1687">
                <a:solidFill>
                  <a:srgbClr val="4c4c4c"/>
                </a:solidFill>
                <a:latin typeface="Noto Serif"/>
              </a:rPr>
              <a:t>)</a:t>
            </a:r>
            <a:endParaRPr dirty="0" lang="en-US" sz="168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0" name="TextBox 10">
            <a:extLst>
              <a:ext uri="{ED0417BE-895C-4B50-845C-CDC0A3753036}">
                <a16:creationId xmlns:a16="http://schemas.microsoft.com/office/drawing/2010/main" id="{708C19ED-3C69-40DA-AEEF-29C640E9B2D3}"/>
              </a:ext>
            </a:extLst>
          </p:cNvPr>
          <p:cNvSpPr txBox="1"/>
          <p:nvPr/>
        </p:nvSpPr>
        <p:spPr>
          <a:xfrm rot="0">
            <a:off x="6449539" y="6219825"/>
            <a:ext cx="2340550" cy="58512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1687"/>
              </a:lnSpc>
            </a:pPr>
            <a:r>
              <a:rPr dirty="0" lang="en-US" sz="1312">
                <a:solidFill>
                  <a:srgbClr val="4c4c4c"/>
                </a:solidFill>
                <a:latin typeface="Noto Serif"/>
              </a:rPr>
              <a:t>Renders views and sends requests</a:t>
            </a:r>
            <a:endParaRPr dirty="0" lang="en-US" sz="1312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1" name="TextBox 11">
            <a:extLst>
              <a:ext uri="{47F0282B-3602-4E8F-8918-1E1953911E2A}">
                <a16:creationId xmlns:a16="http://schemas.microsoft.com/office/drawing/2010/main" id="{D9D14B93-67F9-4D30-A4B0-AEB8F3AEDA2A}"/>
              </a:ext>
            </a:extLst>
          </p:cNvPr>
          <p:cNvSpPr txBox="1"/>
          <p:nvPr/>
        </p:nvSpPr>
        <p:spPr>
          <a:xfrm rot="0">
            <a:off x="1139075" y="5467350"/>
            <a:ext cx="2340550" cy="71949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2062"/>
              </a:lnSpc>
            </a:pPr>
            <a:r>
              <a:rPr dirty="0" lang="en-US" sz="1687">
                <a:solidFill>
                  <a:srgbClr val="4c4c4c"/>
                </a:solidFill>
                <a:latin typeface="Noto Serif"/>
              </a:rPr>
              <a:t>Backend (Spring Boot)</a:t>
            </a:r>
            <a:endParaRPr dirty="0" lang="en-US" sz="168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2" name="TextBox 12">
            <a:extLst>
              <a:ext uri="{93326730-36FF-4E31-9F7D-A1C53C197406}">
                <a16:creationId xmlns:a16="http://schemas.microsoft.com/office/drawing/2010/main" id="{FC0EF779-42C7-4B29-89F0-2D85AA8E7854}"/>
              </a:ext>
            </a:extLst>
          </p:cNvPr>
          <p:cNvSpPr txBox="1"/>
          <p:nvPr/>
        </p:nvSpPr>
        <p:spPr>
          <a:xfrm rot="0">
            <a:off x="1083173" y="6200774"/>
            <a:ext cx="2340550" cy="58512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1687"/>
              </a:lnSpc>
            </a:pPr>
            <a:r>
              <a:rPr dirty="0" lang="en-US" sz="1312">
                <a:solidFill>
                  <a:srgbClr val="4c4c4c"/>
                </a:solidFill>
                <a:latin typeface="Noto Serif"/>
              </a:rPr>
              <a:t>Handles requests and business logic</a:t>
            </a:r>
            <a:endParaRPr dirty="0" lang="en-US" sz="1312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3" name="TextBox 13">
            <a:extLst>
              <a:ext uri="{D8EFE4AC-E288-4427-A387-A600F83ED8D9}">
                <a16:creationId xmlns:a16="http://schemas.microsoft.com/office/drawing/2010/main" id="{A349CD4D-60A2-4355-84FA-BE5D49AB81A2}"/>
              </a:ext>
            </a:extLst>
          </p:cNvPr>
          <p:cNvSpPr txBox="1"/>
          <p:nvPr/>
        </p:nvSpPr>
        <p:spPr>
          <a:xfrm rot="0">
            <a:off x="1086097" y="1866900"/>
            <a:ext cx="2340550" cy="71949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2062"/>
              </a:lnSpc>
            </a:pPr>
            <a:r>
              <a:rPr dirty="0" lang="en-US" sz="1687">
                <a:solidFill>
                  <a:srgbClr val="4c4c4c"/>
                </a:solidFill>
                <a:latin typeface="Noto Serif"/>
              </a:rPr>
              <a:t>Database (MySQL)</a:t>
            </a:r>
            <a:endParaRPr dirty="0" lang="en-US" sz="168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4" name="TextBox 14">
            <a:extLst>
              <a:ext uri="{B279BE85-C8EE-41F3-96C6-DD969841DF12}">
                <a16:creationId xmlns:a16="http://schemas.microsoft.com/office/drawing/2010/main" id="{C6C3058D-4764-4CD2-B8FC-759F6F15244E}"/>
              </a:ext>
            </a:extLst>
          </p:cNvPr>
          <p:cNvSpPr txBox="1"/>
          <p:nvPr/>
        </p:nvSpPr>
        <p:spPr>
          <a:xfrm rot="0">
            <a:off x="1059008" y="2619375"/>
            <a:ext cx="2340550" cy="58512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1687"/>
              </a:lnSpc>
            </a:pPr>
            <a:r>
              <a:rPr dirty="0" lang="en-US" sz="1312">
                <a:solidFill>
                  <a:srgbClr val="4c4c4c"/>
                </a:solidFill>
                <a:latin typeface="Noto Serif"/>
              </a:rPr>
              <a:t>Stores and retrieves persistent data</a:t>
            </a:r>
            <a:endParaRPr dirty="0" lang="en-US" sz="1312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5" name="TextBox 15">
            <a:extLst>
              <a:ext uri="{2A3A08B3-5AF1-470B-988D-77C3583438AE}">
                <a16:creationId xmlns:a16="http://schemas.microsoft.com/office/drawing/2010/main" id="{C724B135-E2E7-4502-89EB-F0173577E0E6}"/>
              </a:ext>
            </a:extLst>
          </p:cNvPr>
          <p:cNvSpPr txBox="1"/>
          <p:nvPr/>
        </p:nvSpPr>
        <p:spPr>
          <a:xfrm rot="0">
            <a:off x="6322247" y="1866900"/>
            <a:ext cx="2340550" cy="35975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2062"/>
              </a:lnSpc>
            </a:pPr>
            <a:r>
              <a:rPr dirty="0" lang="en-US" sz="1687">
                <a:solidFill>
                  <a:srgbClr val="4c4c4c"/>
                </a:solidFill>
                <a:latin typeface="Noto Serif"/>
              </a:rPr>
              <a:t>User</a:t>
            </a:r>
            <a:endParaRPr dirty="0" lang="en-US" sz="168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6" name="TextBox 16">
            <a:extLst>
              <a:ext uri="{9E08F3F0-393C-4527-A09E-9E26A2D1678B}">
                <a16:creationId xmlns:a16="http://schemas.microsoft.com/office/drawing/2010/main" id="{C39935D2-5F58-4CFC-A6B7-B7C9D75E6813}"/>
              </a:ext>
            </a:extLst>
          </p:cNvPr>
          <p:cNvSpPr txBox="1"/>
          <p:nvPr/>
        </p:nvSpPr>
        <p:spPr>
          <a:xfrm rot="0">
            <a:off x="6322247" y="2581275"/>
            <a:ext cx="2340550" cy="58512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1687"/>
              </a:lnSpc>
            </a:pPr>
            <a:r>
              <a:rPr dirty="0" lang="en-US" sz="1312">
                <a:solidFill>
                  <a:srgbClr val="4c4c4c"/>
                </a:solidFill>
                <a:latin typeface="Noto Serif"/>
              </a:rPr>
              <a:t>Initiates actions via </a:t>
            </a:r>
            <a:r>
              <a:rPr dirty="0" lang="en-US" sz="1312">
                <a:solidFill>
                  <a:srgbClr val="4c4c4c"/>
                </a:solidFill>
                <a:latin typeface="Noto Serif"/>
              </a:rPr>
              <a:t>UI</a:t>
            </a:r>
            <a:endParaRPr dirty="0" lang="en-US" sz="1312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7" name="TextBox 17">
            <a:extLst>
              <a:ext uri="{AAC2E608-4CF2-4431-A73F-CB26122EC9AF}">
                <a16:creationId xmlns:a16="http://schemas.microsoft.com/office/drawing/2010/main" id="{DF5F7420-DD64-4F17-8A1B-40A76F45B842}"/>
              </a:ext>
            </a:extLst>
          </p:cNvPr>
          <p:cNvSpPr txBox="1"/>
          <p:nvPr/>
        </p:nvSpPr>
        <p:spPr>
          <a:xfrm rot="0">
            <a:off x="2748410" y="7389762"/>
            <a:ext cx="12791180" cy="61377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187"/>
              </a:lnSpc>
            </a:pPr>
            <a:r>
              <a:rPr dirty="0" lang="en-US" sz="1375">
                <a:solidFill>
                  <a:srgbClr val="4c4c4c"/>
                </a:solidFill>
                <a:latin typeface="Noto Serif"/>
              </a:rPr>
              <a:t>The application adopts a Model-View-Controller (</a:t>
            </a:r>
            <a:r>
              <a:rPr dirty="0" lang="en-US" sz="1375">
                <a:solidFill>
                  <a:srgbClr val="4c4c4c"/>
                </a:solidFill>
                <a:latin typeface="Noto Serif"/>
              </a:rPr>
              <a:t>MVC</a:t>
            </a:r>
            <a:r>
              <a:rPr dirty="0" lang="en-US" sz="1375">
                <a:solidFill>
                  <a:srgbClr val="4c4c4c"/>
                </a:solidFill>
                <a:latin typeface="Noto Serif"/>
              </a:rPr>
              <a:t>) architectural pattern, ensuring a clear separation of concerns and enhancing maintainability and scalability.</a:t>
            </a:r>
            <a:endParaRPr dirty="0" lang="en-US" sz="1375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8" name="TextBox 18">
            <a:extLst>
              <a:ext uri="{113AB9F3-291F-46A1-9692-F155E1B8A20F}">
                <a16:creationId xmlns:a16="http://schemas.microsoft.com/office/drawing/2010/main" id="{EEA57BEE-64D2-4346-99D6-887706B46145}"/>
              </a:ext>
            </a:extLst>
          </p:cNvPr>
          <p:cNvSpPr txBox="1"/>
          <p:nvPr/>
        </p:nvSpPr>
        <p:spPr>
          <a:xfrm rot="0">
            <a:off x="2748410" y="8154886"/>
            <a:ext cx="12791180" cy="33069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03684" lvl="1" marL="207367">
              <a:lnSpc>
                <a:spcPts val="2187"/>
              </a:lnSpc>
              <a:buChar char="•"/>
              <a:buFont typeface="Arial"/>
            </a:pPr>
            <a:r>
              <a:rPr b="1" dirty="0" lang="en-US" sz="1375">
                <a:solidFill>
                  <a:srgbClr val="4c4c4c"/>
                </a:solidFill>
                <a:latin typeface="Noto Serif"/>
              </a:rPr>
              <a:t>User Interaction:</a:t>
            </a:r>
            <a:r>
              <a:rPr dirty="0" lang="en-US" sz="1375">
                <a:solidFill>
                  <a:srgbClr val="4c4c4c"/>
                </a:solidFill>
                <a:latin typeface="Noto Serif"/>
              </a:rPr>
              <a:t> Users interact with the application through the web browser.</a:t>
            </a:r>
            <a:endParaRPr dirty="0" lang="en-US" sz="1375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9" name="TextBox 19">
            <a:extLst>
              <a:ext uri="{5FDC6CCA-DEF5-4E2B-A246-7A64AEE621A2}">
                <a16:creationId xmlns:a16="http://schemas.microsoft.com/office/drawing/2010/main" id="{9CBF95E0-ADA7-4915-B4F6-89B37BAD5956}"/>
              </a:ext>
            </a:extLst>
          </p:cNvPr>
          <p:cNvSpPr txBox="1"/>
          <p:nvPr/>
        </p:nvSpPr>
        <p:spPr>
          <a:xfrm rot="0">
            <a:off x="2748410" y="8499872"/>
            <a:ext cx="12791180" cy="33069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03684" lvl="1" marL="207367">
              <a:lnSpc>
                <a:spcPts val="2187"/>
              </a:lnSpc>
              <a:buChar char="•"/>
              <a:buFont typeface="Arial"/>
            </a:pPr>
            <a:r>
              <a:rPr b="1" dirty="0" lang="en-US" sz="1375">
                <a:solidFill>
                  <a:srgbClr val="4c4c4c"/>
                </a:solidFill>
                <a:latin typeface="Noto Serif"/>
              </a:rPr>
              <a:t>Frontend (View):</a:t>
            </a:r>
            <a:r>
              <a:rPr dirty="0" lang="en-US" sz="1375">
                <a:solidFill>
                  <a:srgbClr val="4c4c4c"/>
                </a:solidFill>
                <a:latin typeface="Noto Serif"/>
              </a:rPr>
              <a:t> </a:t>
            </a:r>
            <a:r>
              <a:rPr dirty="0" lang="en-US" sz="1375">
                <a:solidFill>
                  <a:srgbClr val="4c4c4c"/>
                </a:solidFill>
                <a:latin typeface="Noto Serif"/>
              </a:rPr>
              <a:t>Thymeleaf</a:t>
            </a:r>
            <a:r>
              <a:rPr dirty="0" lang="en-US" sz="1375">
                <a:solidFill>
                  <a:srgbClr val="4c4c4c"/>
                </a:solidFill>
                <a:latin typeface="Noto Serif"/>
              </a:rPr>
              <a:t> templates render the user interface, displaying task information and capturing user input.</a:t>
            </a:r>
            <a:endParaRPr dirty="0" lang="en-US" sz="1375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20" name="TextBox 20">
            <a:extLst>
              <a:ext uri="{50BF137D-2ACA-4C2F-8D6C-C6DE490E8C0D}">
                <a16:creationId xmlns:a16="http://schemas.microsoft.com/office/drawing/2010/main" id="{1AA0D25E-D3B1-4C2A-A11F-C9B081F6A109}"/>
              </a:ext>
            </a:extLst>
          </p:cNvPr>
          <p:cNvSpPr txBox="1"/>
          <p:nvPr/>
        </p:nvSpPr>
        <p:spPr>
          <a:xfrm rot="0">
            <a:off x="2748410" y="8844858"/>
            <a:ext cx="12791180" cy="61377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03684" lvl="1" marL="207367">
              <a:lnSpc>
                <a:spcPts val="2187"/>
              </a:lnSpc>
              <a:buChar char="•"/>
              <a:buFont typeface="Arial"/>
            </a:pPr>
            <a:r>
              <a:rPr b="1" dirty="0" lang="en-US" sz="1375">
                <a:solidFill>
                  <a:srgbClr val="4c4c4c"/>
                </a:solidFill>
                <a:latin typeface="Noto Serif"/>
              </a:rPr>
              <a:t>Backend (Controller &amp; Model):</a:t>
            </a:r>
            <a:r>
              <a:rPr dirty="0" lang="en-US" sz="1375">
                <a:solidFill>
                  <a:srgbClr val="4c4c4c"/>
                </a:solidFill>
                <a:latin typeface="Noto Serif"/>
              </a:rPr>
              <a:t> Spring Boot handles business logic, processes requests from the frontend, and manages data interactions with the database.</a:t>
            </a:r>
            <a:endParaRPr dirty="0" lang="en-US" sz="1375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21" name="TextBox 21">
            <a:extLst>
              <a:ext uri="{3B195909-67D0-4167-8E12-7A9A683A55B8}">
                <a16:creationId xmlns:a16="http://schemas.microsoft.com/office/drawing/2010/main" id="{9901D885-0915-437A-9942-8040069C0B40}"/>
              </a:ext>
            </a:extLst>
          </p:cNvPr>
          <p:cNvSpPr txBox="1"/>
          <p:nvPr/>
        </p:nvSpPr>
        <p:spPr>
          <a:xfrm rot="0">
            <a:off x="2748410" y="9472908"/>
            <a:ext cx="12791180" cy="33069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03684" lvl="1" marL="207367">
              <a:lnSpc>
                <a:spcPts val="2187"/>
              </a:lnSpc>
              <a:buChar char="•"/>
              <a:buFont typeface="Arial"/>
            </a:pPr>
            <a:r>
              <a:rPr b="1" dirty="0" lang="en-US" sz="1375">
                <a:solidFill>
                  <a:srgbClr val="4c4c4c"/>
                </a:solidFill>
                <a:latin typeface="Noto Serif"/>
              </a:rPr>
              <a:t>Database (Model):</a:t>
            </a:r>
            <a:r>
              <a:rPr dirty="0" lang="en-US" sz="1375">
                <a:solidFill>
                  <a:srgbClr val="4c4c4c"/>
                </a:solidFill>
                <a:latin typeface="Noto Serif"/>
              </a:rPr>
              <a:t> MySQL stores all task-related data, user profiles, and application configurations.</a:t>
            </a:r>
            <a:endParaRPr dirty="0" lang="en-US" sz="1375">
              <a:solidFill>
                <a:srgbClr val="4c4c4c"/>
              </a:solidFill>
              <a:latin typeface="Noto Serif"/>
            </a:endParaRPr>
          </a:p>
        </p:txBody>
      </p:sp>
      <p:pic>
        <p:nvPicPr>
          <p:cNvPr id="22" name="Image 22">
            <a:extLst>
              <a:ext uri="{082FCAE2-924B-40E5-A61F-417DD935A582}">
                <a16:creationId xmlns:a16="http://schemas.microsoft.com/office/drawing/2010/main" id="{05D2F462-ACF1-4988-8951-07EA76945A92}"/>
              </a:ext>
            </a:extLst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9110777" y="1384601"/>
            <a:ext cx="8652253" cy="5768168"/>
          </a:xfrm>
          <a:prstGeom prst="rect">
            <a:avLst/>
          </a:prstGeom>
          <a:noFill/>
        </p:spPr>
      </p:pic>
    </p:spTree>
    <p:extLst>
      <p:ext uri="{1B83EED3-EDCA-496A-9B9B-386074CC406E}">
        <p14:creationId xmlns:p14="http://schemas.microsoft.com/office/powerpoint/2010/main" val="1769609807906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546CDDD4-7084-4B71-A565-74EC0BFFEC32}">
                <a16:creationId xmlns:a16="http://schemas.microsoft.com/office/drawing/2010/main" id="{BE774C8C-BC5B-4B2C-9F49-5E9CEA4EBF75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36733603-514E-45F2-A24C-109B69F2C46C}">
                  <a16:creationId xmlns:a16="http://schemas.microsoft.com/office/drawing/2010/main" id="{66BCF7DC-0333-499D-8755-6EFD50F17AEA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D63C1CD0-3C52-407B-AD10-81C369E3C8D8}">
                <a16:creationId xmlns:a16="http://schemas.microsoft.com/office/drawing/2010/main" id="{0D6E9C20-37C5-4F74-805C-94DFAC093653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D2C4FC0F-2A65-4F37-A8B9-287911532204}">
                  <a16:creationId xmlns:a16="http://schemas.microsoft.com/office/drawing/2010/main" id="{111511F1-51F3-405C-AD77-DD7DB46BED50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6" name="Freeform 6">
            <a:hlinkClick r:id="rId2" tooltip="https://gamma.app/?utm_source=made-with-gamma"/>
            <a:extLst>
              <a:ext uri="{1C09505F-3F64-4115-9EFD-946C47103121}">
                <a16:creationId xmlns:a16="http://schemas.microsoft.com/office/drawing/2010/main" id="{5D8F78FB-0344-4915-B6EB-9AFEFC03B652}"/>
              </a:ext>
            </a:extLst>
          </p:cNvPr>
          <p:cNvSpPr/>
          <p:nvPr/>
        </p:nvSpPr>
        <p:spPr>
          <a:xfrm flipH="false" flipV="false" rot="0">
            <a:off x="16049016" y="9686925"/>
            <a:ext cx="2153260" cy="514350"/>
          </a:xfrm>
          <a:custGeom>
            <a:avLst/>
            <a:gdLst/>
            <a:ahLst/>
            <a:cxnLst/>
            <a:rect b="b" l="0" r="r" t="0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 b="0" l="0" r="0" t="0"/>
            </a:stretch>
          </a:blipFill>
        </p:spPr>
      </p:sp>
      <p:sp>
        <p:nvSpPr>
          <p:cNvPr id="7" name="TextBox 8">
            <a:extLst>
              <a:ext uri="{E8B8CD21-1C67-4166-B511-ADC04EEFBB87}">
                <a16:creationId xmlns:a16="http://schemas.microsoft.com/office/drawing/2010/main" id="{90277098-E66F-4D05-ABF2-EE3383792C7D}"/>
              </a:ext>
            </a:extLst>
          </p:cNvPr>
          <p:cNvSpPr txBox="1"/>
          <p:nvPr/>
        </p:nvSpPr>
        <p:spPr>
          <a:xfrm rot="0">
            <a:off x="992238" y="788489"/>
            <a:ext cx="9445522" cy="1559719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6062"/>
              </a:lnSpc>
            </a:pPr>
            <a:r>
              <a:rPr dirty="0" lang="en-US" sz="4875">
                <a:solidFill>
                  <a:srgbClr val="3a3a3a"/>
                </a:solidFill>
                <a:latin typeface="Noto Serif"/>
              </a:rPr>
              <a:t>Key Features: Empowering Efficient Task Management</a:t>
            </a:r>
            <a:endParaRPr dirty="0" lang="en-US" sz="4875">
              <a:solidFill>
                <a:srgbClr val="3a3a3a"/>
              </a:solidFill>
              <a:latin typeface="Noto Serif"/>
            </a:endParaRPr>
          </a:p>
        </p:txBody>
      </p:sp>
      <p:grpSp>
        <p:nvGrpSpPr>
          <p:cNvPr id="8" name="Group 9">
            <a:extLst>
              <a:ext uri="{48887C21-A41E-4EEE-9B2C-C31BE9FD6466}">
                <a16:creationId xmlns:a16="http://schemas.microsoft.com/office/drawing/2010/main" id="{27D8FD94-4D4F-44EA-9428-0FEEBB397043}"/>
              </a:ext>
            </a:extLst>
          </p:cNvPr>
          <p:cNvGrpSpPr/>
          <p:nvPr/>
        </p:nvGrpSpPr>
        <p:grpSpPr>
          <a:xfrm rot="0">
            <a:off x="987475" y="2715520"/>
            <a:ext cx="1001763" cy="2200275"/>
            <a:chOff x="0" y="0"/>
            <a:chExt cx="1335683" cy="2976956"/>
          </a:xfrm>
        </p:grpSpPr>
        <p:sp>
          <p:nvSpPr>
            <p:cNvPr id="9" name="Freeform 10">
              <a:extLst>
                <a:ext uri="{B1391F03-7BE2-42F8-AE12-5F840234088E}">
                  <a16:creationId xmlns:a16="http://schemas.microsoft.com/office/drawing/2010/main" id="{AF5E1814-C8DC-4311-B44C-99F5FBD1D362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1323086" cy="2964179"/>
            </a:xfrm>
            <a:custGeom>
              <a:avLst/>
              <a:gdLst/>
              <a:ahLst/>
              <a:cxnLst/>
              <a:rect b="b" l="0" r="r" t="0"/>
              <a:pathLst>
                <a:path h="2964180" w="1323086">
                  <a:moveTo>
                    <a:pt x="0" y="664972"/>
                  </a:moveTo>
                  <a:cubicBezTo>
                    <a:pt x="0" y="297688"/>
                    <a:pt x="296164" y="0"/>
                    <a:pt x="661543" y="0"/>
                  </a:cubicBezTo>
                  <a:cubicBezTo>
                    <a:pt x="1026922" y="0"/>
                    <a:pt x="1323086" y="297688"/>
                    <a:pt x="1323086" y="664972"/>
                  </a:cubicBezTo>
                  <a:lnTo>
                    <a:pt x="1323086" y="2299208"/>
                  </a:lnTo>
                  <a:cubicBezTo>
                    <a:pt x="1323086" y="2666492"/>
                    <a:pt x="1026922" y="2964180"/>
                    <a:pt x="661543" y="2964180"/>
                  </a:cubicBezTo>
                  <a:cubicBezTo>
                    <a:pt x="296164" y="2964180"/>
                    <a:pt x="0" y="2666492"/>
                    <a:pt x="0" y="2299208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1">
              <a:extLst>
                <a:ext uri="{7713F4AC-3ABC-44A5-B0D2-BC25130314B9}">
                  <a16:creationId xmlns:a16="http://schemas.microsoft.com/office/drawing/2010/main" id="{1E8C0E97-C6BA-4976-B946-82938B328DBD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335785" cy="2976880"/>
            </a:xfrm>
            <a:custGeom>
              <a:avLst/>
              <a:gdLst/>
              <a:ahLst/>
              <a:cxnLst/>
              <a:rect b="b" l="0" r="r" t="0"/>
              <a:pathLst>
                <a:path h="2976880" w="1335786">
                  <a:moveTo>
                    <a:pt x="0" y="671322"/>
                  </a:moveTo>
                  <a:cubicBezTo>
                    <a:pt x="0" y="300609"/>
                    <a:pt x="298958" y="0"/>
                    <a:pt x="667893" y="0"/>
                  </a:cubicBezTo>
                  <a:cubicBezTo>
                    <a:pt x="669163" y="0"/>
                    <a:pt x="670306" y="381"/>
                    <a:pt x="671322" y="1016"/>
                  </a:cubicBezTo>
                  <a:lnTo>
                    <a:pt x="667893" y="6350"/>
                  </a:lnTo>
                  <a:lnTo>
                    <a:pt x="667893" y="0"/>
                  </a:lnTo>
                  <a:lnTo>
                    <a:pt x="667893" y="6350"/>
                  </a:lnTo>
                  <a:lnTo>
                    <a:pt x="667893" y="0"/>
                  </a:lnTo>
                  <a:cubicBezTo>
                    <a:pt x="1036701" y="0"/>
                    <a:pt x="1335786" y="300609"/>
                    <a:pt x="1335786" y="671322"/>
                  </a:cubicBezTo>
                  <a:lnTo>
                    <a:pt x="1335786" y="2305558"/>
                  </a:lnTo>
                  <a:lnTo>
                    <a:pt x="1329436" y="2305558"/>
                  </a:lnTo>
                  <a:lnTo>
                    <a:pt x="1335786" y="2305558"/>
                  </a:lnTo>
                  <a:cubicBezTo>
                    <a:pt x="1335786" y="2676271"/>
                    <a:pt x="1036828" y="2976880"/>
                    <a:pt x="667893" y="2976880"/>
                  </a:cubicBezTo>
                  <a:lnTo>
                    <a:pt x="667893" y="2970530"/>
                  </a:lnTo>
                  <a:lnTo>
                    <a:pt x="667893" y="2976880"/>
                  </a:lnTo>
                  <a:cubicBezTo>
                    <a:pt x="298958" y="2977007"/>
                    <a:pt x="0" y="2676398"/>
                    <a:pt x="0" y="2305558"/>
                  </a:cubicBezTo>
                  <a:lnTo>
                    <a:pt x="0" y="671322"/>
                  </a:lnTo>
                  <a:lnTo>
                    <a:pt x="6350" y="671322"/>
                  </a:lnTo>
                  <a:lnTo>
                    <a:pt x="0" y="671322"/>
                  </a:lnTo>
                  <a:moveTo>
                    <a:pt x="12700" y="671322"/>
                  </a:moveTo>
                  <a:lnTo>
                    <a:pt x="12700" y="2305558"/>
                  </a:lnTo>
                  <a:lnTo>
                    <a:pt x="6350" y="2305558"/>
                  </a:lnTo>
                  <a:lnTo>
                    <a:pt x="12700" y="2305558"/>
                  </a:lnTo>
                  <a:cubicBezTo>
                    <a:pt x="12700" y="2669286"/>
                    <a:pt x="306070" y="2964180"/>
                    <a:pt x="667893" y="2964180"/>
                  </a:cubicBezTo>
                  <a:cubicBezTo>
                    <a:pt x="1029716" y="2964180"/>
                    <a:pt x="1323086" y="2669286"/>
                    <a:pt x="1323086" y="2305558"/>
                  </a:cubicBezTo>
                  <a:lnTo>
                    <a:pt x="1323086" y="671322"/>
                  </a:lnTo>
                  <a:lnTo>
                    <a:pt x="1329436" y="671322"/>
                  </a:lnTo>
                  <a:lnTo>
                    <a:pt x="1323086" y="671322"/>
                  </a:lnTo>
                  <a:cubicBezTo>
                    <a:pt x="1322959" y="307594"/>
                    <a:pt x="1029589" y="12700"/>
                    <a:pt x="667893" y="12700"/>
                  </a:cubicBezTo>
                  <a:cubicBezTo>
                    <a:pt x="666623" y="12700"/>
                    <a:pt x="665480" y="12319"/>
                    <a:pt x="664464" y="11684"/>
                  </a:cubicBezTo>
                  <a:lnTo>
                    <a:pt x="667893" y="6350"/>
                  </a:lnTo>
                  <a:lnTo>
                    <a:pt x="667893" y="12700"/>
                  </a:lnTo>
                  <a:cubicBezTo>
                    <a:pt x="306070" y="12700"/>
                    <a:pt x="12700" y="307594"/>
                    <a:pt x="12700" y="671322"/>
                  </a:cubicBezTo>
                  <a:close/>
                </a:path>
              </a:pathLst>
            </a:custGeom>
            <a:solidFill>
              <a:srgbClr val="ccc4b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2">
            <a:extLst>
              <a:ext uri="{C30E5F47-C7F3-4ED0-81D6-067FE2044E30}">
                <a16:creationId xmlns:a16="http://schemas.microsoft.com/office/drawing/2010/main" id="{5200E7AA-A4E4-4084-BA59-B7D62238C067}"/>
              </a:ext>
            </a:extLst>
          </p:cNvPr>
          <p:cNvSpPr txBox="1"/>
          <p:nvPr/>
        </p:nvSpPr>
        <p:spPr>
          <a:xfrm rot="0">
            <a:off x="1302248" y="3656409"/>
            <a:ext cx="372066" cy="40793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4"/>
              </a:lnSpc>
            </a:pPr>
            <a:r>
              <a:rPr dirty="0" lang="en-US" sz="2874">
                <a:solidFill>
                  <a:srgbClr val="000000"/>
                </a:solidFill>
                <a:latin typeface="Noto Serif"/>
              </a:rPr>
              <a:t>1</a:t>
            </a:r>
            <a:endParaRPr dirty="0" lang="en-US" sz="2874">
              <a:solidFill>
                <a:srgbClr val="000000"/>
              </a:solidFill>
              <a:latin typeface="Noto Serif"/>
            </a:endParaRPr>
          </a:p>
        </p:txBody>
      </p:sp>
      <p:sp>
        <p:nvSpPr>
          <p:cNvPr id="12" name="TextBox 13">
            <a:extLst>
              <a:ext uri="{E032886C-EACD-4275-8387-3A505A964098}">
                <a16:creationId xmlns:a16="http://schemas.microsoft.com/office/drawing/2010/main" id="{EB531E26-9724-4F39-9F82-EE9D72AB4B55}"/>
              </a:ext>
            </a:extLst>
          </p:cNvPr>
          <p:cNvSpPr txBox="1"/>
          <p:nvPr/>
        </p:nvSpPr>
        <p:spPr>
          <a:xfrm rot="0">
            <a:off x="2232422" y="2977753"/>
            <a:ext cx="5170140" cy="378171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999"/>
              </a:lnSpc>
            </a:pPr>
            <a:r>
              <a:rPr dirty="0" lang="en-US" sz="2437">
                <a:solidFill>
                  <a:srgbClr val="4c4c4c"/>
                </a:solidFill>
                <a:latin typeface="Noto Serif"/>
              </a:rPr>
              <a:t>Comprehensive Task Management</a:t>
            </a:r>
            <a:endParaRPr dirty="0" lang="en-US" sz="24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3" name="TextBox 14">
            <a:extLst>
              <a:ext uri="{3BBBB991-3247-494D-AFFD-791CD7007FC1}">
                <a16:creationId xmlns:a16="http://schemas.microsoft.com/office/drawing/2010/main" id="{DE492F99-022D-49CC-9DDE-2CB1B552C01C}"/>
              </a:ext>
            </a:extLst>
          </p:cNvPr>
          <p:cNvSpPr txBox="1"/>
          <p:nvPr/>
        </p:nvSpPr>
        <p:spPr>
          <a:xfrm rot="0">
            <a:off x="2232422" y="3419026"/>
            <a:ext cx="8205340" cy="127650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Users can create, edit, delete, and view tasks with details such as due dates, priority levels, and descriptions. Status tracking (e.g., pending, in progress, completed) is also included.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14" name="Group 15">
            <a:extLst>
              <a:ext uri="{8FA26F37-5A4F-47F3-9A19-842AD61263F1}">
                <a16:creationId xmlns:a16="http://schemas.microsoft.com/office/drawing/2010/main" id="{047EABEA-55A2-47E9-AEE1-D80C221F43C4}"/>
              </a:ext>
            </a:extLst>
          </p:cNvPr>
          <p:cNvGrpSpPr/>
          <p:nvPr/>
        </p:nvGrpSpPr>
        <p:grpSpPr>
          <a:xfrm rot="0">
            <a:off x="987475" y="5186657"/>
            <a:ext cx="1001763" cy="2232717"/>
            <a:chOff x="0" y="0"/>
            <a:chExt cx="1335683" cy="2976956"/>
          </a:xfrm>
        </p:grpSpPr>
        <p:sp>
          <p:nvSpPr>
            <p:cNvPr id="15" name="Freeform 16">
              <a:extLst>
                <a:ext uri="{9BBDBB6D-AD23-456D-B9CF-76504A6F0666}">
                  <a16:creationId xmlns:a16="http://schemas.microsoft.com/office/drawing/2010/main" id="{6F6600C5-187C-4C86-B234-B2BE2ABB4100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1323086" cy="2964179"/>
            </a:xfrm>
            <a:custGeom>
              <a:avLst/>
              <a:gdLst/>
              <a:ahLst/>
              <a:cxnLst/>
              <a:rect b="b" l="0" r="r" t="0"/>
              <a:pathLst>
                <a:path h="2964180" w="1323086">
                  <a:moveTo>
                    <a:pt x="0" y="664972"/>
                  </a:moveTo>
                  <a:cubicBezTo>
                    <a:pt x="0" y="297688"/>
                    <a:pt x="296164" y="0"/>
                    <a:pt x="661543" y="0"/>
                  </a:cubicBezTo>
                  <a:cubicBezTo>
                    <a:pt x="1026922" y="0"/>
                    <a:pt x="1323086" y="297688"/>
                    <a:pt x="1323086" y="664972"/>
                  </a:cubicBezTo>
                  <a:lnTo>
                    <a:pt x="1323086" y="2299208"/>
                  </a:lnTo>
                  <a:cubicBezTo>
                    <a:pt x="1323086" y="2666492"/>
                    <a:pt x="1026922" y="2964180"/>
                    <a:pt x="661543" y="2964180"/>
                  </a:cubicBezTo>
                  <a:cubicBezTo>
                    <a:pt x="296164" y="2964180"/>
                    <a:pt x="0" y="2666492"/>
                    <a:pt x="0" y="2299208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Freeform 17">
              <a:extLst>
                <a:ext uri="{CFB6D647-7FA0-48CF-AE4E-DA5871F5CC9A}">
                  <a16:creationId xmlns:a16="http://schemas.microsoft.com/office/drawing/2010/main" id="{D93F0BB4-6D42-43EE-8682-F4BB7E584EE7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335785" cy="2976880"/>
            </a:xfrm>
            <a:custGeom>
              <a:avLst/>
              <a:gdLst/>
              <a:ahLst/>
              <a:cxnLst/>
              <a:rect b="b" l="0" r="r" t="0"/>
              <a:pathLst>
                <a:path h="2976880" w="1335786">
                  <a:moveTo>
                    <a:pt x="0" y="671322"/>
                  </a:moveTo>
                  <a:cubicBezTo>
                    <a:pt x="0" y="300609"/>
                    <a:pt x="298958" y="0"/>
                    <a:pt x="667893" y="0"/>
                  </a:cubicBezTo>
                  <a:cubicBezTo>
                    <a:pt x="669163" y="0"/>
                    <a:pt x="670306" y="381"/>
                    <a:pt x="671322" y="1016"/>
                  </a:cubicBezTo>
                  <a:lnTo>
                    <a:pt x="667893" y="6350"/>
                  </a:lnTo>
                  <a:lnTo>
                    <a:pt x="667893" y="0"/>
                  </a:lnTo>
                  <a:lnTo>
                    <a:pt x="667893" y="6350"/>
                  </a:lnTo>
                  <a:lnTo>
                    <a:pt x="667893" y="0"/>
                  </a:lnTo>
                  <a:cubicBezTo>
                    <a:pt x="1036701" y="0"/>
                    <a:pt x="1335786" y="300609"/>
                    <a:pt x="1335786" y="671322"/>
                  </a:cubicBezTo>
                  <a:lnTo>
                    <a:pt x="1335786" y="2305558"/>
                  </a:lnTo>
                  <a:lnTo>
                    <a:pt x="1329436" y="2305558"/>
                  </a:lnTo>
                  <a:lnTo>
                    <a:pt x="1335786" y="2305558"/>
                  </a:lnTo>
                  <a:cubicBezTo>
                    <a:pt x="1335786" y="2676271"/>
                    <a:pt x="1036828" y="2976880"/>
                    <a:pt x="667893" y="2976880"/>
                  </a:cubicBezTo>
                  <a:lnTo>
                    <a:pt x="667893" y="2970530"/>
                  </a:lnTo>
                  <a:lnTo>
                    <a:pt x="667893" y="2976880"/>
                  </a:lnTo>
                  <a:cubicBezTo>
                    <a:pt x="298958" y="2977007"/>
                    <a:pt x="0" y="2676398"/>
                    <a:pt x="0" y="2305558"/>
                  </a:cubicBezTo>
                  <a:lnTo>
                    <a:pt x="0" y="671322"/>
                  </a:lnTo>
                  <a:lnTo>
                    <a:pt x="6350" y="671322"/>
                  </a:lnTo>
                  <a:lnTo>
                    <a:pt x="0" y="671322"/>
                  </a:lnTo>
                  <a:moveTo>
                    <a:pt x="12700" y="671322"/>
                  </a:moveTo>
                  <a:lnTo>
                    <a:pt x="12700" y="2305558"/>
                  </a:lnTo>
                  <a:lnTo>
                    <a:pt x="6350" y="2305558"/>
                  </a:lnTo>
                  <a:lnTo>
                    <a:pt x="12700" y="2305558"/>
                  </a:lnTo>
                  <a:cubicBezTo>
                    <a:pt x="12700" y="2669286"/>
                    <a:pt x="306070" y="2964180"/>
                    <a:pt x="667893" y="2964180"/>
                  </a:cubicBezTo>
                  <a:cubicBezTo>
                    <a:pt x="1029716" y="2964180"/>
                    <a:pt x="1323086" y="2669286"/>
                    <a:pt x="1323086" y="2305558"/>
                  </a:cubicBezTo>
                  <a:lnTo>
                    <a:pt x="1323086" y="671322"/>
                  </a:lnTo>
                  <a:lnTo>
                    <a:pt x="1329436" y="671322"/>
                  </a:lnTo>
                  <a:lnTo>
                    <a:pt x="1323086" y="671322"/>
                  </a:lnTo>
                  <a:cubicBezTo>
                    <a:pt x="1322959" y="307594"/>
                    <a:pt x="1029589" y="12700"/>
                    <a:pt x="667893" y="12700"/>
                  </a:cubicBezTo>
                  <a:cubicBezTo>
                    <a:pt x="666623" y="12700"/>
                    <a:pt x="665480" y="12319"/>
                    <a:pt x="664464" y="11684"/>
                  </a:cubicBezTo>
                  <a:lnTo>
                    <a:pt x="667893" y="6350"/>
                  </a:lnTo>
                  <a:lnTo>
                    <a:pt x="667893" y="12700"/>
                  </a:lnTo>
                  <a:cubicBezTo>
                    <a:pt x="306070" y="12700"/>
                    <a:pt x="12700" y="307594"/>
                    <a:pt x="12700" y="671322"/>
                  </a:cubicBezTo>
                  <a:close/>
                </a:path>
              </a:pathLst>
            </a:custGeom>
            <a:solidFill>
              <a:srgbClr val="ccc4b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7" name="TextBox 18">
            <a:extLst>
              <a:ext uri="{F48B304C-75AC-4450-A035-33726F1203B3}">
                <a16:creationId xmlns:a16="http://schemas.microsoft.com/office/drawing/2010/main" id="{DC2C2F21-6EF1-4912-81C4-ED47E1AA1EC6}"/>
              </a:ext>
            </a:extLst>
          </p:cNvPr>
          <p:cNvSpPr txBox="1"/>
          <p:nvPr/>
        </p:nvSpPr>
        <p:spPr>
          <a:xfrm rot="0">
            <a:off x="1302248" y="6127546"/>
            <a:ext cx="372066" cy="40793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4"/>
              </a:lnSpc>
            </a:pPr>
            <a:r>
              <a:rPr dirty="0" lang="en-US" sz="2874">
                <a:solidFill>
                  <a:srgbClr val="000000"/>
                </a:solidFill>
                <a:latin typeface="Noto Serif"/>
              </a:rPr>
              <a:t>2</a:t>
            </a:r>
            <a:endParaRPr dirty="0" lang="en-US" sz="2874">
              <a:solidFill>
                <a:srgbClr val="000000"/>
              </a:solidFill>
              <a:latin typeface="Noto Serif"/>
            </a:endParaRPr>
          </a:p>
        </p:txBody>
      </p:sp>
      <p:sp>
        <p:nvSpPr>
          <p:cNvPr id="18" name="TextBox 19">
            <a:extLst>
              <a:ext uri="{404CB133-20AB-4EA1-83CA-A75E17AC9B1A}">
                <a16:creationId xmlns:a16="http://schemas.microsoft.com/office/drawing/2010/main" id="{3938B344-8BD7-471F-A220-C2D8588CDDC9}"/>
              </a:ext>
            </a:extLst>
          </p:cNvPr>
          <p:cNvSpPr txBox="1"/>
          <p:nvPr/>
        </p:nvSpPr>
        <p:spPr>
          <a:xfrm rot="0">
            <a:off x="2232422" y="5448890"/>
            <a:ext cx="4327179" cy="378171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999"/>
              </a:lnSpc>
            </a:pPr>
            <a:r>
              <a:rPr dirty="0" lang="en-US" sz="2437">
                <a:solidFill>
                  <a:srgbClr val="4c4c4c"/>
                </a:solidFill>
                <a:latin typeface="Noto Serif"/>
              </a:rPr>
              <a:t>Automated Email Reminders</a:t>
            </a:r>
            <a:endParaRPr dirty="0" lang="en-US" sz="24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9" name="TextBox 20">
            <a:extLst>
              <a:ext uri="{89439CF5-2056-4244-848F-63B9CDCFD88A}">
                <a16:creationId xmlns:a16="http://schemas.microsoft.com/office/drawing/2010/main" id="{8B1F2B97-657A-4692-BDDC-F063104E0260}"/>
              </a:ext>
            </a:extLst>
          </p:cNvPr>
          <p:cNvSpPr txBox="1"/>
          <p:nvPr/>
        </p:nvSpPr>
        <p:spPr>
          <a:xfrm rot="0">
            <a:off x="2232422" y="5890174"/>
            <a:ext cx="8205340" cy="127650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The system dispatches email notifications to users before task deadlines, ensuring timely completion and reducing the risk of oversight.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20" name="Group 21">
            <a:extLst>
              <a:ext uri="{335E29C7-8EAB-45C8-8DEF-7DEF40E9A724}">
                <a16:creationId xmlns:a16="http://schemas.microsoft.com/office/drawing/2010/main" id="{1446E1AD-5197-4231-9B03-47201AD7F18B}"/>
              </a:ext>
            </a:extLst>
          </p:cNvPr>
          <p:cNvGrpSpPr/>
          <p:nvPr/>
        </p:nvGrpSpPr>
        <p:grpSpPr>
          <a:xfrm rot="0">
            <a:off x="987475" y="7657805"/>
            <a:ext cx="1001763" cy="1835790"/>
            <a:chOff x="0" y="0"/>
            <a:chExt cx="1335683" cy="2447722"/>
          </a:xfrm>
        </p:grpSpPr>
        <p:sp>
          <p:nvSpPr>
            <p:cNvPr id="21" name="Freeform 22">
              <a:extLst>
                <a:ext uri="{0EB73155-B059-4583-9E58-29BEDD931E9C}">
                  <a16:creationId xmlns:a16="http://schemas.microsoft.com/office/drawing/2010/main" id="{1D935551-498F-45E3-8275-568665E9DAB0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1323086" cy="2434971"/>
            </a:xfrm>
            <a:custGeom>
              <a:avLst/>
              <a:gdLst/>
              <a:ahLst/>
              <a:cxnLst/>
              <a:rect b="b" l="0" r="r" t="0"/>
              <a:pathLst>
                <a:path h="2434971" w="1323086">
                  <a:moveTo>
                    <a:pt x="0" y="664337"/>
                  </a:moveTo>
                  <a:cubicBezTo>
                    <a:pt x="0" y="297434"/>
                    <a:pt x="296164" y="0"/>
                    <a:pt x="661543" y="0"/>
                  </a:cubicBezTo>
                  <a:cubicBezTo>
                    <a:pt x="1026922" y="0"/>
                    <a:pt x="1323086" y="297434"/>
                    <a:pt x="1323086" y="664337"/>
                  </a:cubicBezTo>
                  <a:lnTo>
                    <a:pt x="1323086" y="1770634"/>
                  </a:lnTo>
                  <a:cubicBezTo>
                    <a:pt x="1323086" y="2137537"/>
                    <a:pt x="1026922" y="2434971"/>
                    <a:pt x="661543" y="2434971"/>
                  </a:cubicBezTo>
                  <a:cubicBezTo>
                    <a:pt x="296164" y="2434971"/>
                    <a:pt x="0" y="2137537"/>
                    <a:pt x="0" y="1770634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22" name="Freeform 23">
              <a:extLst>
                <a:ext uri="{32515AB5-BEDC-4429-8446-E1DBA78C3A91}">
                  <a16:creationId xmlns:a16="http://schemas.microsoft.com/office/drawing/2010/main" id="{66B595FF-2E3A-4E91-A976-B22E2DD03243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335785" cy="2447671"/>
            </a:xfrm>
            <a:custGeom>
              <a:avLst/>
              <a:gdLst/>
              <a:ahLst/>
              <a:cxnLst/>
              <a:rect b="b" l="0" r="r" t="0"/>
              <a:pathLst>
                <a:path h="2447671" w="1335786">
                  <a:moveTo>
                    <a:pt x="0" y="670687"/>
                  </a:moveTo>
                  <a:cubicBezTo>
                    <a:pt x="0" y="300355"/>
                    <a:pt x="298958" y="0"/>
                    <a:pt x="667893" y="0"/>
                  </a:cubicBezTo>
                  <a:cubicBezTo>
                    <a:pt x="669163" y="0"/>
                    <a:pt x="670306" y="381"/>
                    <a:pt x="671322" y="1016"/>
                  </a:cubicBezTo>
                  <a:lnTo>
                    <a:pt x="667893" y="6350"/>
                  </a:lnTo>
                  <a:lnTo>
                    <a:pt x="667893" y="0"/>
                  </a:lnTo>
                  <a:lnTo>
                    <a:pt x="667893" y="6350"/>
                  </a:lnTo>
                  <a:lnTo>
                    <a:pt x="667893" y="0"/>
                  </a:lnTo>
                  <a:cubicBezTo>
                    <a:pt x="1036701" y="0"/>
                    <a:pt x="1335786" y="300355"/>
                    <a:pt x="1335786" y="670687"/>
                  </a:cubicBezTo>
                  <a:lnTo>
                    <a:pt x="1335786" y="1776984"/>
                  </a:lnTo>
                  <a:lnTo>
                    <a:pt x="1329436" y="1776984"/>
                  </a:lnTo>
                  <a:lnTo>
                    <a:pt x="1335786" y="1776984"/>
                  </a:lnTo>
                  <a:cubicBezTo>
                    <a:pt x="1335786" y="2147443"/>
                    <a:pt x="1036828" y="2447671"/>
                    <a:pt x="667893" y="2447671"/>
                  </a:cubicBezTo>
                  <a:lnTo>
                    <a:pt x="667893" y="2441321"/>
                  </a:lnTo>
                  <a:lnTo>
                    <a:pt x="667893" y="2447671"/>
                  </a:lnTo>
                  <a:cubicBezTo>
                    <a:pt x="298958" y="2447671"/>
                    <a:pt x="0" y="2147443"/>
                    <a:pt x="0" y="1776984"/>
                  </a:cubicBezTo>
                  <a:lnTo>
                    <a:pt x="0" y="670687"/>
                  </a:lnTo>
                  <a:lnTo>
                    <a:pt x="6350" y="670687"/>
                  </a:lnTo>
                  <a:lnTo>
                    <a:pt x="0" y="670687"/>
                  </a:lnTo>
                  <a:moveTo>
                    <a:pt x="12700" y="670687"/>
                  </a:moveTo>
                  <a:lnTo>
                    <a:pt x="12700" y="1776984"/>
                  </a:lnTo>
                  <a:lnTo>
                    <a:pt x="6350" y="1776984"/>
                  </a:lnTo>
                  <a:lnTo>
                    <a:pt x="12700" y="1776984"/>
                  </a:lnTo>
                  <a:cubicBezTo>
                    <a:pt x="12700" y="2140458"/>
                    <a:pt x="306070" y="2434971"/>
                    <a:pt x="667893" y="2434971"/>
                  </a:cubicBezTo>
                  <a:cubicBezTo>
                    <a:pt x="1029716" y="2434971"/>
                    <a:pt x="1323086" y="2140331"/>
                    <a:pt x="1323086" y="1776984"/>
                  </a:cubicBezTo>
                  <a:lnTo>
                    <a:pt x="1323086" y="670687"/>
                  </a:lnTo>
                  <a:lnTo>
                    <a:pt x="1329436" y="670687"/>
                  </a:lnTo>
                  <a:lnTo>
                    <a:pt x="1323086" y="670687"/>
                  </a:lnTo>
                  <a:cubicBezTo>
                    <a:pt x="1322959" y="307340"/>
                    <a:pt x="1029589" y="12700"/>
                    <a:pt x="667893" y="12700"/>
                  </a:cubicBezTo>
                  <a:cubicBezTo>
                    <a:pt x="666623" y="12700"/>
                    <a:pt x="665480" y="12319"/>
                    <a:pt x="664464" y="11684"/>
                  </a:cubicBezTo>
                  <a:lnTo>
                    <a:pt x="667893" y="6350"/>
                  </a:lnTo>
                  <a:lnTo>
                    <a:pt x="667893" y="12700"/>
                  </a:lnTo>
                  <a:cubicBezTo>
                    <a:pt x="306070" y="12700"/>
                    <a:pt x="12700" y="307340"/>
                    <a:pt x="12700" y="670687"/>
                  </a:cubicBezTo>
                  <a:close/>
                </a:path>
              </a:pathLst>
            </a:custGeom>
            <a:solidFill>
              <a:srgbClr val="ccc4b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4">
            <a:extLst>
              <a:ext uri="{E7B735CD-13B8-48D9-ADF6-DB9873CD1E0F}">
                <a16:creationId xmlns:a16="http://schemas.microsoft.com/office/drawing/2010/main" id="{5F9B0DE1-8127-4B32-A60B-5A88B5168D85}"/>
              </a:ext>
            </a:extLst>
          </p:cNvPr>
          <p:cNvSpPr txBox="1"/>
          <p:nvPr/>
        </p:nvSpPr>
        <p:spPr>
          <a:xfrm rot="0">
            <a:off x="1302248" y="8400307"/>
            <a:ext cx="372066" cy="40793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4"/>
              </a:lnSpc>
            </a:pPr>
            <a:r>
              <a:rPr dirty="0" lang="en-US" sz="2874">
                <a:solidFill>
                  <a:srgbClr val="000000"/>
                </a:solidFill>
                <a:latin typeface="Noto Serif"/>
              </a:rPr>
              <a:t>3</a:t>
            </a:r>
            <a:endParaRPr dirty="0" lang="en-US" sz="2874">
              <a:solidFill>
                <a:srgbClr val="000000"/>
              </a:solidFill>
              <a:latin typeface="Noto Serif"/>
            </a:endParaRPr>
          </a:p>
        </p:txBody>
      </p:sp>
      <p:sp>
        <p:nvSpPr>
          <p:cNvPr id="24" name="TextBox 25">
            <a:extLst>
              <a:ext uri="{3904500B-BEA9-4529-BBC4-57CA01565EA6}">
                <a16:creationId xmlns:a16="http://schemas.microsoft.com/office/drawing/2010/main" id="{6BFE4592-29E3-40A8-A9CB-87B79D3E8FBA}"/>
              </a:ext>
            </a:extLst>
          </p:cNvPr>
          <p:cNvSpPr txBox="1"/>
          <p:nvPr/>
        </p:nvSpPr>
        <p:spPr>
          <a:xfrm rot="0">
            <a:off x="2232422" y="7920037"/>
            <a:ext cx="3436439" cy="378171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999"/>
              </a:lnSpc>
            </a:pPr>
            <a:r>
              <a:rPr dirty="0" lang="en-US" sz="2437">
                <a:solidFill>
                  <a:srgbClr val="4c4c4c"/>
                </a:solidFill>
                <a:latin typeface="Noto Serif"/>
              </a:rPr>
              <a:t>CSV Report Generation</a:t>
            </a:r>
            <a:endParaRPr dirty="0" lang="en-US" sz="24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25" name="TextBox 26">
            <a:extLst>
              <a:ext uri="{8B8A9046-D136-4EC0-8865-EE12D2207D51}">
                <a16:creationId xmlns:a16="http://schemas.microsoft.com/office/drawing/2010/main" id="{3A916BDA-E491-43DD-880F-C8EA413D0DF6}"/>
              </a:ext>
            </a:extLst>
          </p:cNvPr>
          <p:cNvSpPr txBox="1"/>
          <p:nvPr/>
        </p:nvSpPr>
        <p:spPr>
          <a:xfrm rot="0">
            <a:off x="2232422" y="8361312"/>
            <a:ext cx="8205340" cy="8795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>Users can export their task data into a CSV format, facilitating further analysis, record-keeping, and integration with other tools.</a:t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pic>
        <p:nvPicPr>
          <p:cNvPr id="26" name="Image 17">
            <a:extLst>
              <a:ext uri="{91A78C86-63D1-432C-AD61-518681812F54}">
                <a16:creationId xmlns:a16="http://schemas.microsoft.com/office/drawing/2010/main" id="{D6750AE7-A499-4F72-95E6-1D9EF68091C4}"/>
              </a:ext>
            </a:extLst>
          </p:cNvPr>
          <p:cNvPicPr>
            <a:picLocks noChangeAspect="false"/>
          </p:cNvPicPr>
          <p:nvPr/>
        </p:nvPicPr>
        <p:blipFill>
          <a:blip r:embed="rId4"/>
          <a:stretch>
            <a:fillRect/>
          </a:stretch>
        </p:blipFill>
        <p:spPr>
          <a:xfrm flipH="false" flipV="false" rot="0">
            <a:off x="10595277" y="4579953"/>
            <a:ext cx="7692723" cy="5707056"/>
          </a:xfrm>
          <a:prstGeom prst="rect">
            <a:avLst/>
          </a:prstGeom>
          <a:noFill/>
        </p:spPr>
      </p:pic>
      <p:pic>
        <p:nvPicPr>
          <p:cNvPr id="27" name="Image 22">
            <a:extLst>
              <a:ext uri="{BF936D69-5BD5-4E32-B84B-CCC4CCAE7DD6}">
                <a16:creationId xmlns:a16="http://schemas.microsoft.com/office/drawing/2010/main" id="{6450C78D-1E4D-4256-BAA1-220B782331FE}"/>
              </a:ext>
            </a:extLst>
          </p:cNvPr>
          <p:cNvPicPr>
            <a:picLocks noChangeAspect="false"/>
          </p:cNvPicPr>
          <p:nvPr/>
        </p:nvPicPr>
        <p:blipFill>
          <a:blip r:embed="rId5"/>
          <a:stretch>
            <a:fillRect/>
          </a:stretch>
        </p:blipFill>
        <p:spPr>
          <a:xfrm flipH="false" flipV="false" rot="0">
            <a:off x="10569169" y="0"/>
            <a:ext cx="7718831" cy="4577886"/>
          </a:xfrm>
          <a:prstGeom prst="rect">
            <a:avLst/>
          </a:prstGeom>
          <a:noFill/>
        </p:spPr>
      </p:pic>
    </p:spTree>
    <p:extLst>
      <p:ext uri="{BD4EADD9-4327-4A11-9B0A-CF0B670F8FF5}">
        <p14:creationId xmlns:p14="http://schemas.microsoft.com/office/powerpoint/2010/main" val="1769609807909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57B723C6-5CE4-4DCF-AB6D-322F5E9D52BE}">
                <a16:creationId xmlns:a16="http://schemas.microsoft.com/office/drawing/2010/main" id="{DE1C03B3-6D0C-416D-AF52-C5AC1BB4B456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AF746EF1-EEA1-4273-936D-B6B2C20EAF1C}">
                  <a16:creationId xmlns:a16="http://schemas.microsoft.com/office/drawing/2010/main" id="{204DC460-AD90-4759-B1E5-995F97908D1F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436FF23C-45BC-40DF-9AA6-0285D75EF939}">
                <a16:creationId xmlns:a16="http://schemas.microsoft.com/office/drawing/2010/main" id="{FD875F17-F339-4E68-8299-FF6ABD68E668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56DFFF2E-4E86-4140-A946-C93512471227}">
                  <a16:creationId xmlns:a16="http://schemas.microsoft.com/office/drawing/2010/main" id="{FE93F7C7-83D5-4C3B-AFA4-19A6B5FBAEFE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>
            <a:extLst>
              <a:ext uri="{546510CA-CC1A-4277-BA3A-E12C508B6D93}">
                <a16:creationId xmlns:a16="http://schemas.microsoft.com/office/drawing/2010/main" id="{AE516F34-3180-4AEA-969A-C689D74DCAD2}"/>
              </a:ext>
            </a:extLst>
          </p:cNvPr>
          <p:cNvSpPr txBox="1"/>
          <p:nvPr/>
        </p:nvSpPr>
        <p:spPr>
          <a:xfrm rot="0">
            <a:off x="920647" y="1157135"/>
            <a:ext cx="16147256" cy="73834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5625"/>
              </a:lnSpc>
            </a:pPr>
            <a:r>
              <a:rPr dirty="0" lang="en-US" sz="4499">
                <a:solidFill>
                  <a:srgbClr val="3a3a3a"/>
                </a:solidFill>
                <a:latin typeface="Noto Serif"/>
              </a:rPr>
              <a:t>Challenges &amp; Learnings: Navigating Development Hurdles</a:t>
            </a:r>
            <a:endParaRPr dirty="0" lang="en-US" sz="4499">
              <a:solidFill>
                <a:srgbClr val="3a3a3a"/>
              </a:solidFill>
              <a:latin typeface="Noto Serif"/>
            </a:endParaRPr>
          </a:p>
        </p:txBody>
      </p:sp>
      <p:grpSp>
        <p:nvGrpSpPr>
          <p:cNvPr id="7" name="Group 7">
            <a:extLst>
              <a:ext uri="{D9D15607-965B-4D2E-A807-4EF41427146C}">
                <a16:creationId xmlns:a16="http://schemas.microsoft.com/office/drawing/2010/main" id="{A7D955FB-3037-4D0D-95A8-2707CF395E5A}"/>
              </a:ext>
            </a:extLst>
          </p:cNvPr>
          <p:cNvGrpSpPr/>
          <p:nvPr/>
        </p:nvGrpSpPr>
        <p:grpSpPr>
          <a:xfrm rot="0">
            <a:off x="915885" y="2351037"/>
            <a:ext cx="2065287" cy="1335728"/>
            <a:chOff x="0" y="0"/>
            <a:chExt cx="2753716" cy="1780972"/>
          </a:xfrm>
        </p:grpSpPr>
        <p:sp>
          <p:nvSpPr>
            <p:cNvPr id="8" name="Freeform 8">
              <a:extLst>
                <a:ext uri="{B2C3DE88-1EF4-4EA5-A1DD-FF331D30E339}">
                  <a16:creationId xmlns:a16="http://schemas.microsoft.com/office/drawing/2010/main" id="{FE9F52BC-12D3-4DF6-B6CF-F294D2320139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2741041" cy="1768221"/>
            </a:xfrm>
            <a:custGeom>
              <a:avLst/>
              <a:gdLst/>
              <a:ahLst/>
              <a:cxnLst/>
              <a:rect b="b" l="0" r="r" t="0"/>
              <a:pathLst>
                <a:path h="1768221" w="2741041">
                  <a:moveTo>
                    <a:pt x="0" y="128905"/>
                  </a:moveTo>
                  <a:cubicBezTo>
                    <a:pt x="0" y="57658"/>
                    <a:pt x="57912" y="0"/>
                    <a:pt x="129286" y="0"/>
                  </a:cubicBezTo>
                  <a:lnTo>
                    <a:pt x="2611755" y="0"/>
                  </a:lnTo>
                  <a:cubicBezTo>
                    <a:pt x="2683129" y="0"/>
                    <a:pt x="2741041" y="57658"/>
                    <a:pt x="2741041" y="128905"/>
                  </a:cubicBezTo>
                  <a:lnTo>
                    <a:pt x="2741041" y="1639316"/>
                  </a:lnTo>
                  <a:cubicBezTo>
                    <a:pt x="2741041" y="1710563"/>
                    <a:pt x="2683129" y="1768221"/>
                    <a:pt x="2611755" y="1768221"/>
                  </a:cubicBezTo>
                  <a:lnTo>
                    <a:pt x="129286" y="1768221"/>
                  </a:lnTo>
                  <a:cubicBezTo>
                    <a:pt x="57912" y="1768221"/>
                    <a:pt x="0" y="1710563"/>
                    <a:pt x="0" y="1639316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>
              <a:extLst>
                <a:ext uri="{25A00A5F-9EC6-4024-9342-934A1E7A1CF5}">
                  <a16:creationId xmlns:a16="http://schemas.microsoft.com/office/drawing/2010/main" id="{9A7ECEFA-316B-4B23-A141-426B03F09AF6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753741" cy="1780921"/>
            </a:xfrm>
            <a:custGeom>
              <a:avLst/>
              <a:gdLst/>
              <a:ahLst/>
              <a:cxnLst/>
              <a:rect b="b" l="0" r="r" t="0"/>
              <a:pathLst>
                <a:path h="1780921" w="2753741">
                  <a:moveTo>
                    <a:pt x="0" y="135255"/>
                  </a:moveTo>
                  <a:cubicBezTo>
                    <a:pt x="0" y="60579"/>
                    <a:pt x="60706" y="0"/>
                    <a:pt x="135636" y="0"/>
                  </a:cubicBezTo>
                  <a:lnTo>
                    <a:pt x="2618105" y="0"/>
                  </a:lnTo>
                  <a:lnTo>
                    <a:pt x="2618105" y="6350"/>
                  </a:lnTo>
                  <a:lnTo>
                    <a:pt x="2618105" y="0"/>
                  </a:lnTo>
                  <a:cubicBezTo>
                    <a:pt x="2692908" y="0"/>
                    <a:pt x="2753741" y="60579"/>
                    <a:pt x="2753741" y="135255"/>
                  </a:cubicBezTo>
                  <a:lnTo>
                    <a:pt x="2747391" y="135255"/>
                  </a:lnTo>
                  <a:lnTo>
                    <a:pt x="2753741" y="135255"/>
                  </a:lnTo>
                  <a:lnTo>
                    <a:pt x="2753741" y="1645666"/>
                  </a:lnTo>
                  <a:lnTo>
                    <a:pt x="2747391" y="1645666"/>
                  </a:lnTo>
                  <a:lnTo>
                    <a:pt x="2753741" y="1645666"/>
                  </a:lnTo>
                  <a:cubicBezTo>
                    <a:pt x="2753741" y="1720342"/>
                    <a:pt x="2693035" y="1780921"/>
                    <a:pt x="2618105" y="1780921"/>
                  </a:cubicBezTo>
                  <a:lnTo>
                    <a:pt x="2618105" y="1774571"/>
                  </a:lnTo>
                  <a:lnTo>
                    <a:pt x="2618105" y="1780921"/>
                  </a:lnTo>
                  <a:lnTo>
                    <a:pt x="135636" y="1780921"/>
                  </a:lnTo>
                  <a:lnTo>
                    <a:pt x="135636" y="1774571"/>
                  </a:lnTo>
                  <a:lnTo>
                    <a:pt x="135636" y="1780921"/>
                  </a:lnTo>
                  <a:cubicBezTo>
                    <a:pt x="60706" y="1780921"/>
                    <a:pt x="0" y="1720469"/>
                    <a:pt x="0" y="1645666"/>
                  </a:cubicBezTo>
                  <a:lnTo>
                    <a:pt x="0" y="135255"/>
                  </a:lnTo>
                  <a:lnTo>
                    <a:pt x="6350" y="135255"/>
                  </a:lnTo>
                  <a:lnTo>
                    <a:pt x="0" y="135255"/>
                  </a:lnTo>
                  <a:moveTo>
                    <a:pt x="12700" y="135255"/>
                  </a:moveTo>
                  <a:lnTo>
                    <a:pt x="12700" y="1645666"/>
                  </a:lnTo>
                  <a:lnTo>
                    <a:pt x="6350" y="1645666"/>
                  </a:lnTo>
                  <a:lnTo>
                    <a:pt x="12700" y="1645666"/>
                  </a:lnTo>
                  <a:cubicBezTo>
                    <a:pt x="12700" y="1713357"/>
                    <a:pt x="67691" y="1768221"/>
                    <a:pt x="135636" y="1768221"/>
                  </a:cubicBezTo>
                  <a:lnTo>
                    <a:pt x="2618105" y="1768221"/>
                  </a:lnTo>
                  <a:cubicBezTo>
                    <a:pt x="2686050" y="1768221"/>
                    <a:pt x="2741041" y="1713357"/>
                    <a:pt x="2741041" y="1645666"/>
                  </a:cubicBezTo>
                  <a:lnTo>
                    <a:pt x="2741041" y="135255"/>
                  </a:lnTo>
                  <a:cubicBezTo>
                    <a:pt x="2741041" y="67564"/>
                    <a:pt x="2686050" y="12700"/>
                    <a:pt x="2618105" y="12700"/>
                  </a:cubicBezTo>
                  <a:lnTo>
                    <a:pt x="135636" y="12700"/>
                  </a:lnTo>
                  <a:lnTo>
                    <a:pt x="135636" y="6350"/>
                  </a:lnTo>
                  <a:lnTo>
                    <a:pt x="135636" y="12700"/>
                  </a:lnTo>
                  <a:cubicBezTo>
                    <a:pt x="67691" y="12700"/>
                    <a:pt x="12700" y="67564"/>
                    <a:pt x="12700" y="135255"/>
                  </a:cubicBezTo>
                  <a:close/>
                </a:path>
              </a:pathLst>
            </a:custGeom>
            <a:solidFill>
              <a:srgbClr val="ccc4b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>
            <a:extLst>
              <a:ext uri="{DB2ADEC0-E32E-47AB-9006-4104828A5EEF}">
                <a16:creationId xmlns:a16="http://schemas.microsoft.com/office/drawing/2010/main" id="{BE4986E7-9FD8-4645-8C8C-EB70DF5D6437}"/>
              </a:ext>
            </a:extLst>
          </p:cNvPr>
          <p:cNvSpPr txBox="1"/>
          <p:nvPr/>
        </p:nvSpPr>
        <p:spPr>
          <a:xfrm rot="0">
            <a:off x="1786680" y="2711796"/>
            <a:ext cx="323698" cy="50929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4062"/>
              </a:lnSpc>
            </a:pPr>
            <a:r>
              <a:rPr dirty="0" lang="en-US" sz="2499">
                <a:solidFill>
                  <a:srgbClr val="000000"/>
                </a:solidFill>
                <a:latin typeface="Noto Serif"/>
              </a:rPr>
              <a:t>1</a:t>
            </a:r>
            <a:endParaRPr dirty="0" lang="en-US" sz="2499">
              <a:solidFill>
                <a:srgbClr val="000000"/>
              </a:solidFill>
              <a:latin typeface="Noto Serif"/>
            </a:endParaRPr>
          </a:p>
        </p:txBody>
      </p:sp>
      <p:sp>
        <p:nvSpPr>
          <p:cNvPr id="11" name="TextBox 11">
            <a:extLst>
              <a:ext uri="{5ADC00BE-6486-4939-B7F9-508B3C3419F5}">
                <a16:creationId xmlns:a16="http://schemas.microsoft.com/office/drawing/2010/main" id="{2C62D871-D2F3-4529-BC44-03DCD519BD9E}"/>
              </a:ext>
            </a:extLst>
          </p:cNvPr>
          <p:cNvSpPr txBox="1"/>
          <p:nvPr/>
        </p:nvSpPr>
        <p:spPr>
          <a:xfrm rot="0">
            <a:off x="3206506" y="2576360"/>
            <a:ext cx="3189683" cy="369094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12"/>
              </a:lnSpc>
            </a:pPr>
            <a:r>
              <a:rPr dirty="0" lang="en-US" sz="2249">
                <a:solidFill>
                  <a:srgbClr val="4c4c4c"/>
                </a:solidFill>
                <a:latin typeface="Noto Serif"/>
              </a:rPr>
              <a:t>Database Optimization</a:t>
            </a:r>
            <a:endParaRPr dirty="0" lang="en-US" sz="2249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2" name="TextBox 12">
            <a:extLst>
              <a:ext uri="{2C06C5CE-D8A9-46B7-B1BE-20A4AD20EF67}">
                <a16:creationId xmlns:a16="http://schemas.microsoft.com/office/drawing/2010/main" id="{06505A3B-8582-4FD6-AC4C-35194BCA8333}"/>
              </a:ext>
            </a:extLst>
          </p:cNvPr>
          <p:cNvSpPr txBox="1"/>
          <p:nvPr/>
        </p:nvSpPr>
        <p:spPr>
          <a:xfrm rot="0">
            <a:off x="3206506" y="3026416"/>
            <a:ext cx="13227844" cy="425501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5"/>
              </a:lnSpc>
            </a:pPr>
            <a:r>
              <a:rPr dirty="0" lang="en-US" sz="1812">
                <a:solidFill>
                  <a:srgbClr val="4c4c4c"/>
                </a:solidFill>
                <a:latin typeface="Noto Serif"/>
              </a:rPr>
              <a:t>Ensuring efficient query performance and data integrity for large datasets required careful indexing and schema design.</a:t>
            </a:r>
            <a:endParaRPr dirty="0" lang="en-US" sz="1812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13" name="Group 13">
            <a:extLst>
              <a:ext uri="{CA6C1F15-8D89-4A28-8508-66344E311C40}">
                <a16:creationId xmlns:a16="http://schemas.microsoft.com/office/drawing/2010/main" id="{1A24716C-D2E1-46CE-B6BB-4EC3B063FB3F}"/>
              </a:ext>
            </a:extLst>
          </p:cNvPr>
          <p:cNvGrpSpPr/>
          <p:nvPr/>
        </p:nvGrpSpPr>
        <p:grpSpPr>
          <a:xfrm rot="0">
            <a:off x="3091453" y="3670097"/>
            <a:ext cx="14160847" cy="14288"/>
            <a:chOff x="0" y="0"/>
            <a:chExt cx="18881130" cy="19050"/>
          </a:xfrm>
        </p:grpSpPr>
        <p:sp>
          <p:nvSpPr>
            <p:cNvPr id="14" name="Freeform 14">
              <a:extLst>
                <a:ext uri="{4D4C55E9-7B42-44C2-B4D1-E1F9F1054581}">
                  <a16:creationId xmlns:a16="http://schemas.microsoft.com/office/drawing/2010/main" id="{E01D85FA-B340-4AE0-95B3-B75549F74FC5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8881088" cy="19050"/>
            </a:xfrm>
            <a:custGeom>
              <a:avLst/>
              <a:gdLst/>
              <a:ahLst/>
              <a:cxnLst/>
              <a:rect b="b" l="0" r="r" t="0"/>
              <a:pathLst>
                <a:path h="19050" w="18881088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8871564" y="0"/>
                  </a:lnTo>
                  <a:cubicBezTo>
                    <a:pt x="18876770" y="0"/>
                    <a:pt x="18881088" y="4318"/>
                    <a:pt x="18881088" y="9525"/>
                  </a:cubicBezTo>
                  <a:cubicBezTo>
                    <a:pt x="18881088" y="14732"/>
                    <a:pt x="18876770" y="19050"/>
                    <a:pt x="18871564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5" name="Group 15">
            <a:extLst>
              <a:ext uri="{731BF078-588A-40EA-824B-B91A5C22A754}">
                <a16:creationId xmlns:a16="http://schemas.microsoft.com/office/drawing/2010/main" id="{85B23757-0BFF-44E4-8BD1-01246C3909B7}"/>
              </a:ext>
            </a:extLst>
          </p:cNvPr>
          <p:cNvGrpSpPr/>
          <p:nvPr/>
        </p:nvGrpSpPr>
        <p:grpSpPr>
          <a:xfrm rot="0">
            <a:off x="915885" y="3792293"/>
            <a:ext cx="4121201" cy="1704080"/>
            <a:chOff x="0" y="0"/>
            <a:chExt cx="5494934" cy="2272106"/>
          </a:xfrm>
        </p:grpSpPr>
        <p:sp>
          <p:nvSpPr>
            <p:cNvPr id="16" name="Freeform 16">
              <a:extLst>
                <a:ext uri="{348744F3-99EA-4EC7-97C6-4A61A3CD5DF9}">
                  <a16:creationId xmlns:a16="http://schemas.microsoft.com/office/drawing/2010/main" id="{5B04CC77-9B9A-4483-A098-2E80A6A257B4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5482209" cy="2259457"/>
            </a:xfrm>
            <a:custGeom>
              <a:avLst/>
              <a:gdLst/>
              <a:ahLst/>
              <a:cxnLst/>
              <a:rect b="b" l="0" r="r" t="0"/>
              <a:pathLst>
                <a:path h="2259457" w="5482209">
                  <a:moveTo>
                    <a:pt x="0" y="128905"/>
                  </a:moveTo>
                  <a:cubicBezTo>
                    <a:pt x="0" y="57658"/>
                    <a:pt x="57912" y="0"/>
                    <a:pt x="129286" y="0"/>
                  </a:cubicBezTo>
                  <a:lnTo>
                    <a:pt x="5352924" y="0"/>
                  </a:lnTo>
                  <a:cubicBezTo>
                    <a:pt x="5424297" y="0"/>
                    <a:pt x="5482209" y="57658"/>
                    <a:pt x="5482209" y="128905"/>
                  </a:cubicBezTo>
                  <a:lnTo>
                    <a:pt x="5482209" y="2130552"/>
                  </a:lnTo>
                  <a:cubicBezTo>
                    <a:pt x="5482209" y="2201799"/>
                    <a:pt x="5424297" y="2259457"/>
                    <a:pt x="5352924" y="2259457"/>
                  </a:cubicBezTo>
                  <a:lnTo>
                    <a:pt x="129286" y="2259457"/>
                  </a:lnTo>
                  <a:cubicBezTo>
                    <a:pt x="57912" y="2259457"/>
                    <a:pt x="0" y="2201672"/>
                    <a:pt x="0" y="2130552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Freeform 17">
              <a:extLst>
                <a:ext uri="{5CECBE12-5661-494B-9A7F-0F57F71A655F}">
                  <a16:creationId xmlns:a16="http://schemas.microsoft.com/office/drawing/2010/main" id="{116E49BC-73E3-4494-9285-718769144FF6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5494908" cy="2272157"/>
            </a:xfrm>
            <a:custGeom>
              <a:avLst/>
              <a:gdLst/>
              <a:ahLst/>
              <a:cxnLst/>
              <a:rect b="b" l="0" r="r" t="0"/>
              <a:pathLst>
                <a:path h="2272157" w="5494909">
                  <a:moveTo>
                    <a:pt x="0" y="135255"/>
                  </a:moveTo>
                  <a:cubicBezTo>
                    <a:pt x="0" y="60579"/>
                    <a:pt x="60706" y="0"/>
                    <a:pt x="135636" y="0"/>
                  </a:cubicBezTo>
                  <a:lnTo>
                    <a:pt x="5359273" y="0"/>
                  </a:lnTo>
                  <a:lnTo>
                    <a:pt x="5359273" y="6350"/>
                  </a:lnTo>
                  <a:lnTo>
                    <a:pt x="5359273" y="0"/>
                  </a:lnTo>
                  <a:cubicBezTo>
                    <a:pt x="5434204" y="0"/>
                    <a:pt x="5494909" y="60579"/>
                    <a:pt x="5494909" y="135255"/>
                  </a:cubicBezTo>
                  <a:lnTo>
                    <a:pt x="5488560" y="135255"/>
                  </a:lnTo>
                  <a:lnTo>
                    <a:pt x="5494909" y="135255"/>
                  </a:lnTo>
                  <a:lnTo>
                    <a:pt x="5494909" y="2136902"/>
                  </a:lnTo>
                  <a:lnTo>
                    <a:pt x="5488560" y="2136902"/>
                  </a:lnTo>
                  <a:lnTo>
                    <a:pt x="5494909" y="2136902"/>
                  </a:lnTo>
                  <a:cubicBezTo>
                    <a:pt x="5494909" y="2211578"/>
                    <a:pt x="5434204" y="2272157"/>
                    <a:pt x="5359273" y="2272157"/>
                  </a:cubicBezTo>
                  <a:lnTo>
                    <a:pt x="5359273" y="2265807"/>
                  </a:lnTo>
                  <a:lnTo>
                    <a:pt x="5359273" y="2272157"/>
                  </a:lnTo>
                  <a:lnTo>
                    <a:pt x="135636" y="2272157"/>
                  </a:lnTo>
                  <a:lnTo>
                    <a:pt x="135636" y="2265807"/>
                  </a:lnTo>
                  <a:lnTo>
                    <a:pt x="135636" y="2272157"/>
                  </a:lnTo>
                  <a:cubicBezTo>
                    <a:pt x="60706" y="2272157"/>
                    <a:pt x="0" y="2211578"/>
                    <a:pt x="0" y="2136902"/>
                  </a:cubicBezTo>
                  <a:lnTo>
                    <a:pt x="0" y="135255"/>
                  </a:lnTo>
                  <a:lnTo>
                    <a:pt x="6350" y="135255"/>
                  </a:lnTo>
                  <a:lnTo>
                    <a:pt x="0" y="135255"/>
                  </a:lnTo>
                  <a:moveTo>
                    <a:pt x="12700" y="135255"/>
                  </a:moveTo>
                  <a:lnTo>
                    <a:pt x="12700" y="2136902"/>
                  </a:lnTo>
                  <a:lnTo>
                    <a:pt x="6350" y="2136902"/>
                  </a:lnTo>
                  <a:lnTo>
                    <a:pt x="12700" y="2136902"/>
                  </a:lnTo>
                  <a:cubicBezTo>
                    <a:pt x="12700" y="2204593"/>
                    <a:pt x="67691" y="2259457"/>
                    <a:pt x="135636" y="2259457"/>
                  </a:cubicBezTo>
                  <a:lnTo>
                    <a:pt x="5359273" y="2259457"/>
                  </a:lnTo>
                  <a:cubicBezTo>
                    <a:pt x="5427218" y="2259457"/>
                    <a:pt x="5482209" y="2204593"/>
                    <a:pt x="5482209" y="2136902"/>
                  </a:cubicBezTo>
                  <a:lnTo>
                    <a:pt x="5482209" y="135255"/>
                  </a:lnTo>
                  <a:cubicBezTo>
                    <a:pt x="5482209" y="67564"/>
                    <a:pt x="5427218" y="12700"/>
                    <a:pt x="5359273" y="12700"/>
                  </a:cubicBezTo>
                  <a:lnTo>
                    <a:pt x="135636" y="12700"/>
                  </a:lnTo>
                  <a:lnTo>
                    <a:pt x="135636" y="6350"/>
                  </a:lnTo>
                  <a:lnTo>
                    <a:pt x="135636" y="12700"/>
                  </a:lnTo>
                  <a:cubicBezTo>
                    <a:pt x="67691" y="12700"/>
                    <a:pt x="12700" y="67564"/>
                    <a:pt x="12700" y="135255"/>
                  </a:cubicBezTo>
                  <a:close/>
                </a:path>
              </a:pathLst>
            </a:custGeom>
            <a:solidFill>
              <a:srgbClr val="ccc4b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TextBox 18">
            <a:extLst>
              <a:ext uri="{11CD5E25-5522-4DF5-A710-AB423552F677}">
                <a16:creationId xmlns:a16="http://schemas.microsoft.com/office/drawing/2010/main" id="{3452DDDA-141B-4B11-BA9A-0991BFA8E0B2}"/>
              </a:ext>
            </a:extLst>
          </p:cNvPr>
          <p:cNvSpPr txBox="1"/>
          <p:nvPr/>
        </p:nvSpPr>
        <p:spPr>
          <a:xfrm rot="0">
            <a:off x="2814638" y="4337294"/>
            <a:ext cx="323698" cy="50929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4062"/>
              </a:lnSpc>
            </a:pPr>
            <a:r>
              <a:rPr dirty="0" lang="en-US" sz="2499">
                <a:solidFill>
                  <a:srgbClr val="000000"/>
                </a:solidFill>
                <a:latin typeface="Noto Serif"/>
              </a:rPr>
              <a:t>2</a:t>
            </a:r>
            <a:endParaRPr dirty="0" lang="en-US" sz="2499">
              <a:solidFill>
                <a:srgbClr val="000000"/>
              </a:solidFill>
              <a:latin typeface="Noto Serif"/>
            </a:endParaRPr>
          </a:p>
        </p:txBody>
      </p:sp>
      <p:sp>
        <p:nvSpPr>
          <p:cNvPr id="19" name="TextBox 19">
            <a:extLst>
              <a:ext uri="{5137B46D-D310-490E-A06D-92C6CBEF6F08}">
                <a16:creationId xmlns:a16="http://schemas.microsoft.com/office/drawing/2010/main" id="{53069FFF-EB29-4ED8-AF77-656C6541B387}"/>
              </a:ext>
            </a:extLst>
          </p:cNvPr>
          <p:cNvSpPr txBox="1"/>
          <p:nvPr/>
        </p:nvSpPr>
        <p:spPr>
          <a:xfrm rot="0">
            <a:off x="5262410" y="4017615"/>
            <a:ext cx="3467995" cy="369094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12"/>
              </a:lnSpc>
            </a:pPr>
            <a:r>
              <a:rPr dirty="0" lang="en-US" sz="2249">
                <a:solidFill>
                  <a:srgbClr val="4c4c4c"/>
                </a:solidFill>
                <a:latin typeface="Noto Serif"/>
              </a:rPr>
              <a:t>Secure Email Integration</a:t>
            </a:r>
            <a:endParaRPr dirty="0" lang="en-US" sz="2249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20" name="TextBox 20">
            <a:extLst>
              <a:ext uri="{23B2044D-DD1B-4299-8314-ECD56163F7BC}">
                <a16:creationId xmlns:a16="http://schemas.microsoft.com/office/drawing/2010/main" id="{4A6250AD-C85F-47B8-BE8B-62FA34996A45}"/>
              </a:ext>
            </a:extLst>
          </p:cNvPr>
          <p:cNvSpPr txBox="1"/>
          <p:nvPr/>
        </p:nvSpPr>
        <p:spPr>
          <a:xfrm rot="0">
            <a:off x="5262410" y="4467673"/>
            <a:ext cx="11874847" cy="79385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5"/>
              </a:lnSpc>
            </a:pPr>
            <a:r>
              <a:rPr dirty="0" lang="en-US" sz="1812">
                <a:solidFill>
                  <a:srgbClr val="4c4c4c"/>
                </a:solidFill>
                <a:latin typeface="Noto Serif"/>
              </a:rPr>
              <a:t>Implementing a reliable and secure email sending mechanism while adhering to </a:t>
            </a:r>
            <a:r>
              <a:rPr dirty="0" err="1" lang="en-US" sz="1812">
                <a:solidFill>
                  <a:srgbClr val="4c4c4c"/>
                </a:solidFill>
                <a:latin typeface="Noto Serif"/>
              </a:rPr>
              <a:t>SMTP</a:t>
            </a:r>
            <a:r>
              <a:rPr dirty="0" lang="en-US" sz="1812">
                <a:solidFill>
                  <a:srgbClr val="4c4c4c"/>
                </a:solidFill>
                <a:latin typeface="Noto Serif"/>
              </a:rPr>
              <a:t> protocols and user privacy concerns.</a:t>
            </a:r>
            <a:endParaRPr dirty="0" lang="en-US" sz="1812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21" name="Group 21">
            <a:extLst>
              <a:ext uri="{97AF14CB-9384-4A07-840A-9791477149AB}">
                <a16:creationId xmlns:a16="http://schemas.microsoft.com/office/drawing/2010/main" id="{D0BAA659-3C50-400F-9F33-0AB5D8BE8FFA}"/>
              </a:ext>
            </a:extLst>
          </p:cNvPr>
          <p:cNvGrpSpPr/>
          <p:nvPr/>
        </p:nvGrpSpPr>
        <p:grpSpPr>
          <a:xfrm rot="0">
            <a:off x="5147367" y="5479704"/>
            <a:ext cx="12104932" cy="14288"/>
            <a:chOff x="0" y="0"/>
            <a:chExt cx="16139911" cy="19050"/>
          </a:xfrm>
        </p:grpSpPr>
        <p:sp>
          <p:nvSpPr>
            <p:cNvPr id="22" name="Freeform 22">
              <a:extLst>
                <a:ext uri="{1CCA9318-4008-4299-9E62-B4B23C48D86F}">
                  <a16:creationId xmlns:a16="http://schemas.microsoft.com/office/drawing/2010/main" id="{AF533695-D127-4E46-98A0-A9E53AEF0A90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6139921" cy="19050"/>
            </a:xfrm>
            <a:custGeom>
              <a:avLst/>
              <a:gdLst/>
              <a:ahLst/>
              <a:cxnLst/>
              <a:rect b="b" l="0" r="r" t="0"/>
              <a:pathLst>
                <a:path h="19050" w="16139922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6130397" y="0"/>
                  </a:lnTo>
                  <a:cubicBezTo>
                    <a:pt x="16135604" y="0"/>
                    <a:pt x="16139921" y="4318"/>
                    <a:pt x="16139921" y="9525"/>
                  </a:cubicBezTo>
                  <a:cubicBezTo>
                    <a:pt x="16139921" y="14732"/>
                    <a:pt x="16135604" y="19050"/>
                    <a:pt x="16130397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3" name="Group 23">
            <a:extLst>
              <a:ext uri="{37F478B6-001D-43FC-A3FA-7AD2C48783D0}">
                <a16:creationId xmlns:a16="http://schemas.microsoft.com/office/drawing/2010/main" id="{B6EDD4E7-9CBD-4637-8D80-521B64DFCAF7}"/>
              </a:ext>
            </a:extLst>
          </p:cNvPr>
          <p:cNvGrpSpPr/>
          <p:nvPr/>
        </p:nvGrpSpPr>
        <p:grpSpPr>
          <a:xfrm rot="0">
            <a:off x="915885" y="5601891"/>
            <a:ext cx="6176962" cy="1704080"/>
            <a:chOff x="0" y="0"/>
            <a:chExt cx="8235950" cy="2272106"/>
          </a:xfrm>
        </p:grpSpPr>
        <p:sp>
          <p:nvSpPr>
            <p:cNvPr id="24" name="Freeform 24">
              <a:extLst>
                <a:ext uri="{EFAFF15A-9AE8-4E3B-A117-41B9703FAAE7}">
                  <a16:creationId xmlns:a16="http://schemas.microsoft.com/office/drawing/2010/main" id="{FED8011D-045C-4394-8C51-2EA312B1FB45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8223250" cy="2259457"/>
            </a:xfrm>
            <a:custGeom>
              <a:avLst/>
              <a:gdLst/>
              <a:ahLst/>
              <a:cxnLst/>
              <a:rect b="b" l="0" r="r" t="0"/>
              <a:pathLst>
                <a:path h="2259457" w="8223250">
                  <a:moveTo>
                    <a:pt x="0" y="128905"/>
                  </a:moveTo>
                  <a:cubicBezTo>
                    <a:pt x="0" y="57658"/>
                    <a:pt x="57912" y="0"/>
                    <a:pt x="129413" y="0"/>
                  </a:cubicBezTo>
                  <a:lnTo>
                    <a:pt x="8093838" y="0"/>
                  </a:lnTo>
                  <a:cubicBezTo>
                    <a:pt x="8165338" y="0"/>
                    <a:pt x="8223250" y="57658"/>
                    <a:pt x="8223250" y="128905"/>
                  </a:cubicBezTo>
                  <a:lnTo>
                    <a:pt x="8223250" y="2130552"/>
                  </a:lnTo>
                  <a:cubicBezTo>
                    <a:pt x="8223250" y="2201799"/>
                    <a:pt x="8165338" y="2259457"/>
                    <a:pt x="8093838" y="2259457"/>
                  </a:cubicBezTo>
                  <a:lnTo>
                    <a:pt x="129413" y="2259457"/>
                  </a:lnTo>
                  <a:cubicBezTo>
                    <a:pt x="57912" y="2259457"/>
                    <a:pt x="0" y="2201672"/>
                    <a:pt x="0" y="2130552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25" name="Freeform 25">
              <a:extLst>
                <a:ext uri="{C7393028-ECD4-4B5C-8B8D-A5433386874F}">
                  <a16:creationId xmlns:a16="http://schemas.microsoft.com/office/drawing/2010/main" id="{3B42E95B-8768-4E92-9AC5-F88767D15075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8235950" cy="2272157"/>
            </a:xfrm>
            <a:custGeom>
              <a:avLst/>
              <a:gdLst/>
              <a:ahLst/>
              <a:cxnLst/>
              <a:rect b="b" l="0" r="r" t="0"/>
              <a:pathLst>
                <a:path h="2272157" w="8235950">
                  <a:moveTo>
                    <a:pt x="0" y="135255"/>
                  </a:moveTo>
                  <a:cubicBezTo>
                    <a:pt x="0" y="60579"/>
                    <a:pt x="60833" y="0"/>
                    <a:pt x="135763" y="0"/>
                  </a:cubicBezTo>
                  <a:lnTo>
                    <a:pt x="8100187" y="0"/>
                  </a:lnTo>
                  <a:lnTo>
                    <a:pt x="8100187" y="6350"/>
                  </a:lnTo>
                  <a:lnTo>
                    <a:pt x="8100187" y="0"/>
                  </a:lnTo>
                  <a:cubicBezTo>
                    <a:pt x="8175117" y="0"/>
                    <a:pt x="8235950" y="60579"/>
                    <a:pt x="8235950" y="135255"/>
                  </a:cubicBezTo>
                  <a:lnTo>
                    <a:pt x="8229600" y="135255"/>
                  </a:lnTo>
                  <a:lnTo>
                    <a:pt x="8235950" y="135255"/>
                  </a:lnTo>
                  <a:lnTo>
                    <a:pt x="8235950" y="2136902"/>
                  </a:lnTo>
                  <a:lnTo>
                    <a:pt x="8229600" y="2136902"/>
                  </a:lnTo>
                  <a:lnTo>
                    <a:pt x="8235950" y="2136902"/>
                  </a:lnTo>
                  <a:cubicBezTo>
                    <a:pt x="8235950" y="2211578"/>
                    <a:pt x="8175117" y="2272157"/>
                    <a:pt x="8100187" y="2272157"/>
                  </a:cubicBezTo>
                  <a:lnTo>
                    <a:pt x="8100187" y="2265807"/>
                  </a:lnTo>
                  <a:lnTo>
                    <a:pt x="8100187" y="2272157"/>
                  </a:lnTo>
                  <a:lnTo>
                    <a:pt x="135763" y="2272157"/>
                  </a:lnTo>
                  <a:lnTo>
                    <a:pt x="135763" y="2265807"/>
                  </a:lnTo>
                  <a:lnTo>
                    <a:pt x="135763" y="2272157"/>
                  </a:lnTo>
                  <a:cubicBezTo>
                    <a:pt x="60833" y="2272157"/>
                    <a:pt x="0" y="2211578"/>
                    <a:pt x="0" y="2136902"/>
                  </a:cubicBezTo>
                  <a:lnTo>
                    <a:pt x="0" y="135255"/>
                  </a:lnTo>
                  <a:lnTo>
                    <a:pt x="6350" y="135255"/>
                  </a:lnTo>
                  <a:lnTo>
                    <a:pt x="0" y="135255"/>
                  </a:lnTo>
                  <a:moveTo>
                    <a:pt x="12700" y="135255"/>
                  </a:moveTo>
                  <a:lnTo>
                    <a:pt x="12700" y="2136902"/>
                  </a:lnTo>
                  <a:lnTo>
                    <a:pt x="6350" y="2136902"/>
                  </a:lnTo>
                  <a:lnTo>
                    <a:pt x="12700" y="2136902"/>
                  </a:lnTo>
                  <a:cubicBezTo>
                    <a:pt x="12700" y="2204593"/>
                    <a:pt x="67818" y="2259457"/>
                    <a:pt x="135763" y="2259457"/>
                  </a:cubicBezTo>
                  <a:lnTo>
                    <a:pt x="8100187" y="2259457"/>
                  </a:lnTo>
                  <a:cubicBezTo>
                    <a:pt x="8168132" y="2259457"/>
                    <a:pt x="8223250" y="2204593"/>
                    <a:pt x="8223250" y="2136902"/>
                  </a:cubicBezTo>
                  <a:lnTo>
                    <a:pt x="8223250" y="135255"/>
                  </a:lnTo>
                  <a:cubicBezTo>
                    <a:pt x="8223250" y="67564"/>
                    <a:pt x="8168132" y="12700"/>
                    <a:pt x="8100187" y="12700"/>
                  </a:cubicBezTo>
                  <a:lnTo>
                    <a:pt x="135763" y="12700"/>
                  </a:lnTo>
                  <a:lnTo>
                    <a:pt x="135763" y="6350"/>
                  </a:lnTo>
                  <a:lnTo>
                    <a:pt x="135763" y="12700"/>
                  </a:lnTo>
                  <a:cubicBezTo>
                    <a:pt x="67818" y="12700"/>
                    <a:pt x="12700" y="67564"/>
                    <a:pt x="12700" y="135255"/>
                  </a:cubicBezTo>
                  <a:close/>
                </a:path>
              </a:pathLst>
            </a:custGeom>
            <a:solidFill>
              <a:srgbClr val="ccc4b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>
            <a:extLst>
              <a:ext uri="{58B49D98-E7F7-4F84-92B1-D0C7C6FB2B61}">
                <a16:creationId xmlns:a16="http://schemas.microsoft.com/office/drawing/2010/main" id="{388A87B2-21D8-4DC8-BE92-3CF9F71BCB66}"/>
              </a:ext>
            </a:extLst>
          </p:cNvPr>
          <p:cNvSpPr txBox="1"/>
          <p:nvPr/>
        </p:nvSpPr>
        <p:spPr>
          <a:xfrm rot="0">
            <a:off x="3842442" y="6146902"/>
            <a:ext cx="323698" cy="50929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4062"/>
              </a:lnSpc>
            </a:pPr>
            <a:r>
              <a:rPr dirty="0" lang="en-US" sz="2499">
                <a:solidFill>
                  <a:srgbClr val="000000"/>
                </a:solidFill>
                <a:latin typeface="Noto Serif"/>
              </a:rPr>
              <a:t>3</a:t>
            </a:r>
            <a:endParaRPr dirty="0" lang="en-US" sz="2499">
              <a:solidFill>
                <a:srgbClr val="000000"/>
              </a:solidFill>
              <a:latin typeface="Noto Serif"/>
            </a:endParaRPr>
          </a:p>
        </p:txBody>
      </p:sp>
      <p:sp>
        <p:nvSpPr>
          <p:cNvPr id="27" name="TextBox 27">
            <a:extLst>
              <a:ext uri="{C84B7C4E-8737-440B-8C83-5B21A565A288}">
                <a16:creationId xmlns:a16="http://schemas.microsoft.com/office/drawing/2010/main" id="{E9D1774C-E3F9-44FA-93DD-3D2646F0A9A8}"/>
              </a:ext>
            </a:extLst>
          </p:cNvPr>
          <p:cNvSpPr txBox="1"/>
          <p:nvPr/>
        </p:nvSpPr>
        <p:spPr>
          <a:xfrm rot="0">
            <a:off x="7318172" y="5827214"/>
            <a:ext cx="3174502" cy="369094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12"/>
              </a:lnSpc>
            </a:pPr>
            <a:r>
              <a:rPr dirty="0" lang="en-US" sz="2249">
                <a:solidFill>
                  <a:srgbClr val="4c4c4c"/>
                </a:solidFill>
                <a:latin typeface="Noto Serif"/>
              </a:rPr>
              <a:t>Robust Error Handling</a:t>
            </a:r>
            <a:endParaRPr dirty="0" lang="en-US" sz="2249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28" name="TextBox 28">
            <a:extLst>
              <a:ext uri="{544124FB-7B74-43B1-8065-B600AA21A2D0}">
                <a16:creationId xmlns:a16="http://schemas.microsoft.com/office/drawing/2010/main" id="{7E37DC90-7921-4703-A77F-A0E082FCEE2B}"/>
              </a:ext>
            </a:extLst>
          </p:cNvPr>
          <p:cNvSpPr txBox="1"/>
          <p:nvPr/>
        </p:nvSpPr>
        <p:spPr>
          <a:xfrm rot="0">
            <a:off x="7318172" y="6277270"/>
            <a:ext cx="9819085" cy="79385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5"/>
              </a:lnSpc>
            </a:pPr>
            <a:r>
              <a:rPr dirty="0" lang="en-US" sz="1812">
                <a:solidFill>
                  <a:srgbClr val="4c4c4c"/>
                </a:solidFill>
                <a:latin typeface="Noto Serif"/>
              </a:rPr>
              <a:t>Developing comprehensive error management across frontend and backend to provide a seamless user experience.</a:t>
            </a:r>
            <a:endParaRPr dirty="0" lang="en-US" sz="1812">
              <a:solidFill>
                <a:srgbClr val="4c4c4c"/>
              </a:solidFill>
              <a:latin typeface="Noto Serif"/>
            </a:endParaRPr>
          </a:p>
        </p:txBody>
      </p:sp>
      <p:grpSp>
        <p:nvGrpSpPr>
          <p:cNvPr id="29" name="Group 29">
            <a:extLst>
              <a:ext uri="{E21035D9-F5D4-46B7-AF51-7460F1E1C320}">
                <a16:creationId xmlns:a16="http://schemas.microsoft.com/office/drawing/2010/main" id="{80DEE1F4-317B-448D-8389-B665609DC83E}"/>
              </a:ext>
            </a:extLst>
          </p:cNvPr>
          <p:cNvGrpSpPr/>
          <p:nvPr/>
        </p:nvGrpSpPr>
        <p:grpSpPr>
          <a:xfrm rot="0">
            <a:off x="7203128" y="7289302"/>
            <a:ext cx="10049170" cy="14288"/>
            <a:chOff x="0" y="0"/>
            <a:chExt cx="13398893" cy="19050"/>
          </a:xfrm>
        </p:grpSpPr>
        <p:sp>
          <p:nvSpPr>
            <p:cNvPr id="30" name="Freeform 30">
              <a:extLst>
                <a:ext uri="{17AA8D43-EAA8-4B6A-B73B-B2EDD6CA7C9B}">
                  <a16:creationId xmlns:a16="http://schemas.microsoft.com/office/drawing/2010/main" id="{646B3DE0-BAB2-49F1-BCFB-CA55D0FDBE32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3398881" cy="19050"/>
            </a:xfrm>
            <a:custGeom>
              <a:avLst/>
              <a:gdLst/>
              <a:ahLst/>
              <a:cxnLst/>
              <a:rect b="b" l="0" r="r" t="0"/>
              <a:pathLst>
                <a:path h="19050" w="13398881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3389356" y="0"/>
                  </a:lnTo>
                  <a:cubicBezTo>
                    <a:pt x="13394564" y="0"/>
                    <a:pt x="13398881" y="4318"/>
                    <a:pt x="13398881" y="9525"/>
                  </a:cubicBezTo>
                  <a:cubicBezTo>
                    <a:pt x="13398881" y="14732"/>
                    <a:pt x="13394564" y="19050"/>
                    <a:pt x="13389356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1" name="Group 31">
            <a:extLst>
              <a:ext uri="{A3F207AA-4B18-443D-A7A3-61EC8861B1DC}">
                <a16:creationId xmlns:a16="http://schemas.microsoft.com/office/drawing/2010/main" id="{D12CBD46-77B0-4BD6-A3F9-F6072D5414FC}"/>
              </a:ext>
            </a:extLst>
          </p:cNvPr>
          <p:cNvGrpSpPr/>
          <p:nvPr/>
        </p:nvGrpSpPr>
        <p:grpSpPr>
          <a:xfrm rot="0">
            <a:off x="915885" y="7411488"/>
            <a:ext cx="8232877" cy="1704080"/>
            <a:chOff x="0" y="0"/>
            <a:chExt cx="10977169" cy="2272106"/>
          </a:xfrm>
        </p:grpSpPr>
        <p:sp>
          <p:nvSpPr>
            <p:cNvPr id="32" name="Freeform 32">
              <a:extLst>
                <a:ext uri="{EA11584E-470B-481C-8587-AEF0615BF388}">
                  <a16:creationId xmlns:a16="http://schemas.microsoft.com/office/drawing/2010/main" id="{C67CFE61-7F4B-4BCD-94AC-E94656C65274}"/>
                </a:ext>
              </a:extLst>
            </p:cNvPr>
            <p:cNvSpPr/>
            <p:nvPr/>
          </p:nvSpPr>
          <p:spPr>
            <a:xfrm flipH="false" flipV="false" rot="0">
              <a:off x="6350" y="6350"/>
              <a:ext cx="10964418" cy="2259457"/>
            </a:xfrm>
            <a:custGeom>
              <a:avLst/>
              <a:gdLst/>
              <a:ahLst/>
              <a:cxnLst/>
              <a:rect b="b" l="0" r="r" t="0"/>
              <a:pathLst>
                <a:path h="2259457" w="10964418">
                  <a:moveTo>
                    <a:pt x="0" y="128905"/>
                  </a:moveTo>
                  <a:cubicBezTo>
                    <a:pt x="0" y="57658"/>
                    <a:pt x="57912" y="0"/>
                    <a:pt x="129413" y="0"/>
                  </a:cubicBezTo>
                  <a:lnTo>
                    <a:pt x="10835005" y="0"/>
                  </a:lnTo>
                  <a:cubicBezTo>
                    <a:pt x="10906507" y="0"/>
                    <a:pt x="10964418" y="57658"/>
                    <a:pt x="10964418" y="128905"/>
                  </a:cubicBezTo>
                  <a:lnTo>
                    <a:pt x="10964418" y="2130552"/>
                  </a:lnTo>
                  <a:cubicBezTo>
                    <a:pt x="10964418" y="2201799"/>
                    <a:pt x="10906507" y="2259457"/>
                    <a:pt x="10835005" y="2259457"/>
                  </a:cubicBezTo>
                  <a:lnTo>
                    <a:pt x="129413" y="2259457"/>
                  </a:lnTo>
                  <a:cubicBezTo>
                    <a:pt x="57912" y="2259457"/>
                    <a:pt x="0" y="2201672"/>
                    <a:pt x="0" y="2130552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33" name="Freeform 33">
              <a:extLst>
                <a:ext uri="{07C951AD-ECB9-48FC-B9AF-E341D1676FD2}">
                  <a16:creationId xmlns:a16="http://schemas.microsoft.com/office/drawing/2010/main" id="{5C4A503B-32A1-4586-B87E-165621B0D61D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0977119" cy="2272157"/>
            </a:xfrm>
            <a:custGeom>
              <a:avLst/>
              <a:gdLst/>
              <a:ahLst/>
              <a:cxnLst/>
              <a:rect b="b" l="0" r="r" t="0"/>
              <a:pathLst>
                <a:path h="2272157" w="10977118">
                  <a:moveTo>
                    <a:pt x="0" y="135255"/>
                  </a:moveTo>
                  <a:cubicBezTo>
                    <a:pt x="0" y="60579"/>
                    <a:pt x="60833" y="0"/>
                    <a:pt x="135763" y="0"/>
                  </a:cubicBezTo>
                  <a:lnTo>
                    <a:pt x="10841355" y="0"/>
                  </a:lnTo>
                  <a:lnTo>
                    <a:pt x="10841355" y="6350"/>
                  </a:lnTo>
                  <a:lnTo>
                    <a:pt x="10841355" y="0"/>
                  </a:lnTo>
                  <a:cubicBezTo>
                    <a:pt x="10916286" y="0"/>
                    <a:pt x="10977119" y="60579"/>
                    <a:pt x="10977119" y="135255"/>
                  </a:cubicBezTo>
                  <a:lnTo>
                    <a:pt x="10970767" y="135255"/>
                  </a:lnTo>
                  <a:lnTo>
                    <a:pt x="10977119" y="135255"/>
                  </a:lnTo>
                  <a:lnTo>
                    <a:pt x="10977119" y="2136902"/>
                  </a:lnTo>
                  <a:lnTo>
                    <a:pt x="10970767" y="2136902"/>
                  </a:lnTo>
                  <a:lnTo>
                    <a:pt x="10977119" y="2136902"/>
                  </a:lnTo>
                  <a:cubicBezTo>
                    <a:pt x="10977119" y="2211578"/>
                    <a:pt x="10916286" y="2272157"/>
                    <a:pt x="10841355" y="2272157"/>
                  </a:cubicBezTo>
                  <a:lnTo>
                    <a:pt x="10841355" y="2265807"/>
                  </a:lnTo>
                  <a:lnTo>
                    <a:pt x="10841355" y="2272157"/>
                  </a:lnTo>
                  <a:lnTo>
                    <a:pt x="135763" y="2272157"/>
                  </a:lnTo>
                  <a:lnTo>
                    <a:pt x="135763" y="2265807"/>
                  </a:lnTo>
                  <a:lnTo>
                    <a:pt x="135763" y="2272157"/>
                  </a:lnTo>
                  <a:cubicBezTo>
                    <a:pt x="60833" y="2272157"/>
                    <a:pt x="0" y="2211578"/>
                    <a:pt x="0" y="2136902"/>
                  </a:cubicBezTo>
                  <a:lnTo>
                    <a:pt x="0" y="135255"/>
                  </a:lnTo>
                  <a:lnTo>
                    <a:pt x="6350" y="135255"/>
                  </a:lnTo>
                  <a:lnTo>
                    <a:pt x="0" y="135255"/>
                  </a:lnTo>
                  <a:moveTo>
                    <a:pt x="12700" y="135255"/>
                  </a:moveTo>
                  <a:lnTo>
                    <a:pt x="12700" y="2136902"/>
                  </a:lnTo>
                  <a:lnTo>
                    <a:pt x="6350" y="2136902"/>
                  </a:lnTo>
                  <a:lnTo>
                    <a:pt x="12700" y="2136902"/>
                  </a:lnTo>
                  <a:cubicBezTo>
                    <a:pt x="12700" y="2204593"/>
                    <a:pt x="67818" y="2259457"/>
                    <a:pt x="135763" y="2259457"/>
                  </a:cubicBezTo>
                  <a:lnTo>
                    <a:pt x="10841355" y="2259457"/>
                  </a:lnTo>
                  <a:cubicBezTo>
                    <a:pt x="10909427" y="2259457"/>
                    <a:pt x="10964418" y="2204593"/>
                    <a:pt x="10964418" y="2136902"/>
                  </a:cubicBezTo>
                  <a:lnTo>
                    <a:pt x="10964418" y="135255"/>
                  </a:lnTo>
                  <a:cubicBezTo>
                    <a:pt x="10964418" y="67564"/>
                    <a:pt x="10909299" y="12700"/>
                    <a:pt x="10841355" y="12700"/>
                  </a:cubicBezTo>
                  <a:lnTo>
                    <a:pt x="135763" y="12700"/>
                  </a:lnTo>
                  <a:lnTo>
                    <a:pt x="135763" y="6350"/>
                  </a:lnTo>
                  <a:lnTo>
                    <a:pt x="135763" y="12700"/>
                  </a:lnTo>
                  <a:cubicBezTo>
                    <a:pt x="67818" y="12700"/>
                    <a:pt x="12700" y="67564"/>
                    <a:pt x="12700" y="135255"/>
                  </a:cubicBezTo>
                  <a:close/>
                </a:path>
              </a:pathLst>
            </a:custGeom>
            <a:solidFill>
              <a:srgbClr val="ccc4b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4" name="TextBox 34">
            <a:extLst>
              <a:ext uri="{3569E044-B5CB-4663-B231-CED29C812A99}">
                <a16:creationId xmlns:a16="http://schemas.microsoft.com/office/drawing/2010/main" id="{0D82E4E8-FC8E-49AF-884B-186FAF733AA1}"/>
              </a:ext>
            </a:extLst>
          </p:cNvPr>
          <p:cNvSpPr txBox="1"/>
          <p:nvPr/>
        </p:nvSpPr>
        <p:spPr>
          <a:xfrm rot="0">
            <a:off x="4870399" y="7956499"/>
            <a:ext cx="323698" cy="50929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4062"/>
              </a:lnSpc>
            </a:pPr>
            <a:r>
              <a:rPr dirty="0" lang="en-US" sz="2499">
                <a:solidFill>
                  <a:srgbClr val="000000"/>
                </a:solidFill>
                <a:latin typeface="Noto Serif"/>
              </a:rPr>
              <a:t>4</a:t>
            </a:r>
            <a:endParaRPr dirty="0" lang="en-US" sz="2499">
              <a:solidFill>
                <a:srgbClr val="000000"/>
              </a:solidFill>
              <a:latin typeface="Noto Serif"/>
            </a:endParaRPr>
          </a:p>
        </p:txBody>
      </p:sp>
      <p:sp>
        <p:nvSpPr>
          <p:cNvPr id="35" name="TextBox 35">
            <a:extLst>
              <a:ext uri="{7CF17A74-B19F-4D6B-BF52-0AC964185018}">
                <a16:creationId xmlns:a16="http://schemas.microsoft.com/office/drawing/2010/main" id="{7B4C9AC5-D03A-4139-BF71-C84C424F799C}"/>
              </a:ext>
            </a:extLst>
          </p:cNvPr>
          <p:cNvSpPr txBox="1"/>
          <p:nvPr/>
        </p:nvSpPr>
        <p:spPr>
          <a:xfrm rot="0">
            <a:off x="9374086" y="7636821"/>
            <a:ext cx="4977107" cy="369094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12"/>
              </a:lnSpc>
            </a:pPr>
            <a:r>
              <a:rPr dirty="0" lang="en-US" sz="2249">
                <a:solidFill>
                  <a:srgbClr val="4c4c4c"/>
                </a:solidFill>
                <a:latin typeface="Noto Serif"/>
              </a:rPr>
              <a:t>Thymeleaf</a:t>
            </a:r>
            <a:r>
              <a:rPr dirty="0" lang="en-US" sz="2249">
                <a:solidFill>
                  <a:srgbClr val="4c4c4c"/>
                </a:solidFill>
                <a:latin typeface="Noto Serif"/>
              </a:rPr>
              <a:t> and Spring Boot Synergy</a:t>
            </a:r>
            <a:endParaRPr dirty="0" lang="en-US" sz="2249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36" name="TextBox 36">
            <a:extLst>
              <a:ext uri="{218EECC5-42BE-4D65-8FEC-9DA76C6DBAB8}">
                <a16:creationId xmlns:a16="http://schemas.microsoft.com/office/drawing/2010/main" id="{A9BDBC68-ED18-4520-96F2-6D3763C21935}"/>
              </a:ext>
            </a:extLst>
          </p:cNvPr>
          <p:cNvSpPr txBox="1"/>
          <p:nvPr/>
        </p:nvSpPr>
        <p:spPr>
          <a:xfrm rot="0">
            <a:off x="9374086" y="8086876"/>
            <a:ext cx="7763170" cy="793852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2875"/>
              </a:lnSpc>
            </a:pPr>
            <a:r>
              <a:rPr dirty="0" lang="en-US" sz="1812">
                <a:solidFill>
                  <a:srgbClr val="4c4c4c"/>
                </a:solidFill>
                <a:latin typeface="Noto Serif"/>
              </a:rPr>
              <a:t>Mastering the integration between server-side rendering with </a:t>
            </a:r>
            <a:r>
              <a:rPr dirty="0" lang="en-US" sz="1812">
                <a:solidFill>
                  <a:srgbClr val="4c4c4c"/>
                </a:solidFill>
                <a:latin typeface="Noto Serif"/>
              </a:rPr>
              <a:t>Thymeleaf</a:t>
            </a:r>
            <a:r>
              <a:rPr dirty="0" lang="en-US" sz="1812">
                <a:solidFill>
                  <a:srgbClr val="4c4c4c"/>
                </a:solidFill>
                <a:latin typeface="Noto Serif"/>
              </a:rPr>
              <a:t> and Spring Boot's powerful backend capabilities.</a:t>
            </a:r>
            <a:endParaRPr dirty="0" lang="en-US" sz="1812">
              <a:solidFill>
                <a:srgbClr val="4c4c4c"/>
              </a:solidFill>
              <a:latin typeface="Noto Serif"/>
            </a:endParaRPr>
          </a:p>
        </p:txBody>
      </p:sp>
    </p:spTree>
    <p:extLst>
      <p:ext uri="{D5C02962-E971-4A10-A325-097073598F3C}">
        <p14:creationId xmlns:p14="http://schemas.microsoft.com/office/powerpoint/2010/main" val="1769609807912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19F9A87D-A6BE-44DB-ABB5-1878F4AAA227}">
                <a16:creationId xmlns:a16="http://schemas.microsoft.com/office/drawing/2010/main" id="{E303D2F4-EEB7-4CD2-AA23-E3721BE3DB50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1A61C54C-4410-414A-9F86-09C82E5F1837}">
                  <a16:creationId xmlns:a16="http://schemas.microsoft.com/office/drawing/2010/main" id="{D5442B4B-260E-49D1-9787-7F39AC2D5876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557CBD0F-D52A-4F71-BE5D-C3BDADC819C3}">
                <a16:creationId xmlns:a16="http://schemas.microsoft.com/office/drawing/2010/main" id="{37511300-E363-4B0B-804D-C5C5B59A2DBB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CDF469BF-5F9F-4ED4-B342-4BF127EB130C}">
                  <a16:creationId xmlns:a16="http://schemas.microsoft.com/office/drawing/2010/main" id="{3862F9E1-5980-451E-9433-418308837B64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>
            <a:extLst>
              <a:ext uri="{BB3B4C13-5F0C-4537-828F-6EE06EF8BE7D}">
                <a16:creationId xmlns:a16="http://schemas.microsoft.com/office/drawing/2010/main" id="{E5B1FBC6-B751-46B3-9F5A-67F175A15746}"/>
              </a:ext>
            </a:extLst>
          </p:cNvPr>
          <p:cNvSpPr txBox="1"/>
          <p:nvPr/>
        </p:nvSpPr>
        <p:spPr>
          <a:xfrm rot="0">
            <a:off x="1279769" y="579234"/>
            <a:ext cx="15095933" cy="69889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5312"/>
              </a:lnSpc>
            </a:pPr>
            <a:r>
              <a:rPr dirty="0" lang="en-US" sz="4250">
                <a:solidFill>
                  <a:srgbClr val="3a3a3a"/>
                </a:solidFill>
                <a:latin typeface="Noto Serif"/>
              </a:rPr>
              <a:t>Future Enhancements: Expanding Capabilities and Reach</a:t>
            </a:r>
            <a:endParaRPr dirty="0" lang="en-US" sz="4250">
              <a:solidFill>
                <a:srgbClr val="3a3a3a"/>
              </a:solidFill>
              <a:latin typeface="Noto Serif"/>
            </a:endParaRPr>
          </a:p>
        </p:txBody>
      </p:sp>
      <p:sp>
        <p:nvSpPr>
          <p:cNvPr descr="preencoded.png" id="7" name="Freeform 7">
            <a:extLst>
              <a:ext uri="{902EFD9A-D136-4DDA-9360-5BD561E627B7}">
                <a16:creationId xmlns:a16="http://schemas.microsoft.com/office/drawing/2010/main" id="{6D583710-DE18-44BA-8776-6C7D71280E2D}"/>
              </a:ext>
            </a:extLst>
          </p:cNvPr>
          <p:cNvSpPr/>
          <p:nvPr/>
        </p:nvSpPr>
        <p:spPr>
          <a:xfrm flipH="false" flipV="false" rot="0">
            <a:off x="1279769" y="1849193"/>
            <a:ext cx="7598864" cy="7598864"/>
          </a:xfrm>
          <a:custGeom>
            <a:avLst/>
            <a:gdLst/>
            <a:ahLst/>
            <a:cxnLst/>
            <a:rect b="b" l="0" r="r" t="0"/>
            <a:pathLst>
              <a:path h="7598864" w="7598864">
                <a:moveTo>
                  <a:pt x="0" y="0"/>
                </a:moveTo>
                <a:lnTo>
                  <a:pt x="7598866" y="0"/>
                </a:lnTo>
                <a:lnTo>
                  <a:pt x="7598866" y="7598864"/>
                </a:lnTo>
                <a:lnTo>
                  <a:pt x="0" y="759886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 b="0" l="0" r="0" t="0"/>
            </a:stretch>
          </a:blipFill>
        </p:spPr>
      </p:sp>
      <p:sp>
        <p:nvSpPr>
          <p:cNvPr id="8" name="TextBox 8">
            <a:extLst>
              <a:ext uri="{7BAC9AF9-265C-40F6-A23A-D11B95945B7E}">
                <a16:creationId xmlns:a16="http://schemas.microsoft.com/office/drawing/2010/main" id="{B32A1A50-79DB-4081-B8A9-325FC2BF7F5B}"/>
              </a:ext>
            </a:extLst>
          </p:cNvPr>
          <p:cNvSpPr txBox="1"/>
          <p:nvPr/>
        </p:nvSpPr>
        <p:spPr>
          <a:xfrm rot="0">
            <a:off x="9418882" y="1743075"/>
            <a:ext cx="7598864" cy="682504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27248" lvl="1" marL="254496">
              <a:lnSpc>
                <a:spcPts val="2687"/>
              </a:lnSpc>
              <a:buChar char="•"/>
              <a:buFont typeface="Arial"/>
            </a:pPr>
            <a:r>
              <a:rPr b="1" dirty="0" lang="en-US" sz="1687">
                <a:solidFill>
                  <a:srgbClr val="4c4c4c"/>
                </a:solidFill>
                <a:latin typeface="Noto Serif"/>
              </a:rPr>
              <a:t>Advanced Reminder Mechanisms:</a:t>
            </a:r>
            <a:r>
              <a:rPr dirty="0" lang="en-US" sz="1687">
                <a:solidFill>
                  <a:srgbClr val="4c4c4c"/>
                </a:solidFill>
                <a:latin typeface="Noto Serif"/>
              </a:rPr>
              <a:t> Incorporating SMS notifications, in-app alerts, and customizable reminder frequencies.</a:t>
            </a:r>
            <a:endParaRPr dirty="0" lang="en-US" sz="168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9" name="TextBox 9">
            <a:extLst>
              <a:ext uri="{AE22C70A-3857-430A-8806-921A5E9194C5}">
                <a16:creationId xmlns:a16="http://schemas.microsoft.com/office/drawing/2010/main" id="{DF2D7670-F81A-4B20-8F16-DB455EBF0934}"/>
              </a:ext>
            </a:extLst>
          </p:cNvPr>
          <p:cNvSpPr txBox="1"/>
          <p:nvPr/>
        </p:nvSpPr>
        <p:spPr>
          <a:xfrm rot="0">
            <a:off x="9418882" y="2515343"/>
            <a:ext cx="7598864" cy="85725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27248" lvl="1" marL="254496">
              <a:lnSpc>
                <a:spcPts val="2687"/>
              </a:lnSpc>
              <a:buChar char="•"/>
              <a:buFont typeface="Arial"/>
            </a:pPr>
            <a:r>
              <a:rPr b="1" dirty="0" lang="en-US" sz="1687">
                <a:solidFill>
                  <a:srgbClr val="4c4c4c"/>
                </a:solidFill>
                <a:latin typeface="Noto Serif"/>
              </a:rPr>
              <a:t>Mobile Application Development:</a:t>
            </a:r>
            <a:r>
              <a:rPr dirty="0" lang="en-US" sz="1687">
                <a:solidFill>
                  <a:srgbClr val="4c4c4c"/>
                </a:solidFill>
                <a:latin typeface="Noto Serif"/>
              </a:rPr>
              <a:t> Creating native iOS and Android applications for on-the-go task management.</a:t>
            </a:r>
            <a:endParaRPr dirty="0" lang="en-US" sz="168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0" name="TextBox 10">
            <a:extLst>
              <a:ext uri="{4B84E181-D57B-4ACA-93AA-C7A3F8F17A9E}">
                <a16:creationId xmlns:a16="http://schemas.microsoft.com/office/drawing/2010/main" id="{6E96D4F6-0B64-48E9-BC74-4F05BED75165}"/>
              </a:ext>
            </a:extLst>
          </p:cNvPr>
          <p:cNvSpPr txBox="1"/>
          <p:nvPr/>
        </p:nvSpPr>
        <p:spPr>
          <a:xfrm rot="0">
            <a:off x="9418882" y="3287611"/>
            <a:ext cx="7598864" cy="85725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27248" lvl="1" marL="254496">
              <a:lnSpc>
                <a:spcPts val="2687"/>
              </a:lnSpc>
              <a:buChar char="•"/>
              <a:buFont typeface="Arial"/>
            </a:pPr>
            <a:r>
              <a:rPr b="1" dirty="0" lang="en-US" sz="1687">
                <a:solidFill>
                  <a:srgbClr val="4c4c4c"/>
                </a:solidFill>
                <a:latin typeface="Noto Serif"/>
              </a:rPr>
              <a:t>Cloud Expansion:</a:t>
            </a:r>
            <a:r>
              <a:rPr dirty="0" lang="en-US" sz="1687">
                <a:solidFill>
                  <a:srgbClr val="4c4c4c"/>
                </a:solidFill>
                <a:latin typeface="Noto Serif"/>
              </a:rPr>
              <a:t> Deploying the application on cloud platforms (e.g., AWS, Azure) for enhanced scalability and availability.</a:t>
            </a:r>
            <a:endParaRPr dirty="0" lang="en-US" sz="168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1" name="TextBox 11">
            <a:extLst>
              <a:ext uri="{588E68D5-6DBA-47CE-906B-25E30BB5BE6A}">
                <a16:creationId xmlns:a16="http://schemas.microsoft.com/office/drawing/2010/main" id="{09B26348-BA94-42D1-BC70-B1A7F5CDA388}"/>
              </a:ext>
            </a:extLst>
          </p:cNvPr>
          <p:cNvSpPr txBox="1"/>
          <p:nvPr/>
        </p:nvSpPr>
        <p:spPr>
          <a:xfrm rot="0">
            <a:off x="9418882" y="4059879"/>
            <a:ext cx="7598864" cy="85725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27248" lvl="1" marL="254496">
              <a:lnSpc>
                <a:spcPts val="2687"/>
              </a:lnSpc>
              <a:buChar char="•"/>
              <a:buFont typeface="Arial"/>
            </a:pPr>
            <a:r>
              <a:rPr b="1" dirty="0" lang="en-US" sz="1687">
                <a:solidFill>
                  <a:srgbClr val="4c4c4c"/>
                </a:solidFill>
                <a:latin typeface="Noto Serif"/>
              </a:rPr>
              <a:t>Team Collaboration Features:</a:t>
            </a:r>
            <a:r>
              <a:rPr dirty="0" lang="en-US" sz="1687">
                <a:solidFill>
                  <a:srgbClr val="4c4c4c"/>
                </a:solidFill>
                <a:latin typeface="Noto Serif"/>
              </a:rPr>
              <a:t> Allowing multiple users to share tasks, assign responsibilities, and track team progress.</a:t>
            </a:r>
            <a:endParaRPr dirty="0" lang="en-US" sz="168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12" name="TextBox 12">
            <a:extLst>
              <a:ext uri="{4506DB23-0383-4269-ABB8-7B1C7CBA6712}">
                <a16:creationId xmlns:a16="http://schemas.microsoft.com/office/drawing/2010/main" id="{CA30B6AF-0494-4153-AE54-6A420A5E4819}"/>
              </a:ext>
            </a:extLst>
          </p:cNvPr>
          <p:cNvSpPr txBox="1"/>
          <p:nvPr/>
        </p:nvSpPr>
        <p:spPr>
          <a:xfrm rot="0">
            <a:off x="9418882" y="4832147"/>
            <a:ext cx="7598864" cy="857250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 indent="-127248" lvl="1" marL="254496">
              <a:lnSpc>
                <a:spcPts val="2687"/>
              </a:lnSpc>
              <a:buChar char="•"/>
              <a:buFont typeface="Arial"/>
            </a:pPr>
            <a:r>
              <a:rPr b="1" dirty="0" lang="en-US" sz="1687">
                <a:solidFill>
                  <a:srgbClr val="4c4c4c"/>
                </a:solidFill>
                <a:latin typeface="Noto Serif"/>
              </a:rPr>
              <a:t>Calendar Integration:</a:t>
            </a:r>
            <a:r>
              <a:rPr dirty="0" lang="en-US" sz="1687">
                <a:solidFill>
                  <a:srgbClr val="4c4c4c"/>
                </a:solidFill>
                <a:latin typeface="Noto Serif"/>
              </a:rPr>
              <a:t> Seamlessly syncing tasks with popular calendar applications like Google Calendar or Outlook.</a:t>
            </a:r>
            <a:endParaRPr dirty="0" lang="en-US" sz="1687">
              <a:solidFill>
                <a:srgbClr val="4c4c4c"/>
              </a:solidFill>
              <a:latin typeface="Noto Serif"/>
            </a:endParaRPr>
          </a:p>
        </p:txBody>
      </p:sp>
    </p:spTree>
    <p:extLst>
      <p:ext uri="{AD804F84-F88D-420F-BE1C-1F5183222F24}">
        <p14:creationId xmlns:p14="http://schemas.microsoft.com/office/powerpoint/2010/main" val="176960980791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13F5D702-1F21-4CDA-A175-147F2FC16EDA}">
                <a16:creationId xmlns:a16="http://schemas.microsoft.com/office/drawing/2010/main" id="{4FA7B90F-86FD-4B37-9BE9-1B3928BB95B3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716DA2DB-595A-45BC-BD91-805AE6E18EC3}">
                  <a16:creationId xmlns:a16="http://schemas.microsoft.com/office/drawing/2010/main" id="{8630DB4C-D5F6-4205-ABE2-93DF5FCA0FE5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>
            <a:extLst>
              <a:ext uri="{5313B702-F91E-48F3-ADA8-A8372FD3F803}">
                <a16:creationId xmlns:a16="http://schemas.microsoft.com/office/drawing/2010/main" id="{D829D237-9612-4B88-A920-636A6C36B9F3}"/>
              </a:ext>
            </a:extLst>
          </p:cNvPr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7D51506C-11A5-41B5-A888-EEE5D9AA6343}">
                  <a16:creationId xmlns:a16="http://schemas.microsoft.com/office/drawing/2010/main" id="{2EBF629F-5F83-449A-ACF5-72EEC9BA175B}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b="b" l="0" r="r" t="0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descr="preencoded.png" id="6" name="Freeform 6">
            <a:extLst>
              <a:ext uri="{60C4314C-2E12-4DBF-BA3D-1FF1129EE5D8}">
                <a16:creationId xmlns:a16="http://schemas.microsoft.com/office/drawing/2010/main" id="{8588232C-B85B-42A1-9359-021D68B1442F}"/>
              </a:ext>
            </a:extLst>
          </p:cNvPr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b="b" l="0" r="r" t="0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 b="0" l="0" r="0" t="0"/>
            </a:stretch>
          </a:blipFill>
        </p:spPr>
      </p:sp>
      <p:sp>
        <p:nvSpPr>
          <p:cNvPr id="7" name="TextBox 7">
            <a:extLst>
              <a:ext uri="{4E0956BA-D00A-44A3-BE75-B036418775EA}">
                <a16:creationId xmlns:a16="http://schemas.microsoft.com/office/drawing/2010/main" id="{E75423AC-8A53-4C05-969B-E3ACB26A7FBD}"/>
              </a:ext>
            </a:extLst>
          </p:cNvPr>
          <p:cNvSpPr txBox="1"/>
          <p:nvPr/>
        </p:nvSpPr>
        <p:spPr>
          <a:xfrm rot="0">
            <a:off x="7943850" y="4762500"/>
            <a:ext cx="6202260" cy="76987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6062"/>
              </a:lnSpc>
            </a:pPr>
            <a:r>
              <a:rPr dirty="0" lang="en-US" sz="5400">
                <a:solidFill>
                  <a:srgbClr val="3a3a3a"/>
                </a:solidFill>
                <a:latin typeface="Noto Serif"/>
              </a:rPr>
              <a:t>Thank You</a:t>
            </a:r>
            <a:endParaRPr dirty="0" lang="en-US" sz="5400">
              <a:solidFill>
                <a:srgbClr val="3a3a3a"/>
              </a:solidFill>
              <a:latin typeface="Noto Serif"/>
            </a:endParaRPr>
          </a:p>
        </p:txBody>
      </p:sp>
      <p:sp>
        <p:nvSpPr>
          <p:cNvPr id="8" name="TextBox 8">
            <a:extLst>
              <a:ext uri="{385417E6-5266-4427-B8AB-4D261673076C}">
                <a16:creationId xmlns:a16="http://schemas.microsoft.com/office/drawing/2010/main" id="{9FE0A2F8-C948-46F0-8990-040E2AB87EEB}"/>
              </a:ext>
            </a:extLst>
          </p:cNvPr>
          <p:cNvSpPr txBox="1"/>
          <p:nvPr/>
        </p:nvSpPr>
        <p:spPr>
          <a:xfrm rot="0">
            <a:off x="7850238" y="4431354"/>
            <a:ext cx="9445522" cy="39687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/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  <p:sp>
        <p:nvSpPr>
          <p:cNvPr id="9" name="TextBox 9">
            <a:extLst>
              <a:ext uri="{113A544F-D7F8-472C-8F99-B74112FEC5CD}">
                <a16:creationId xmlns:a16="http://schemas.microsoft.com/office/drawing/2010/main" id="{0F8400A2-BED8-46B5-B258-9FE3805516A9}"/>
              </a:ext>
            </a:extLst>
          </p:cNvPr>
          <p:cNvSpPr txBox="1"/>
          <p:nvPr/>
        </p:nvSpPr>
        <p:spPr>
          <a:xfrm rot="0">
            <a:off x="7850238" y="5267030"/>
            <a:ext cx="4001986" cy="460371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625"/>
              </a:lnSpc>
            </a:pPr>
            <a:r>
              <a:rPr dirty="0" lang="en-US" sz="2874">
                <a:solidFill>
                  <a:srgbClr val="3a3a3a"/>
                </a:solidFill>
                <a:latin typeface="Noto Serif"/>
              </a:rPr>
              <a:t/>
            </a:r>
            <a:endParaRPr dirty="0" lang="en-US" sz="2874">
              <a:solidFill>
                <a:srgbClr val="3a3a3a"/>
              </a:solidFill>
              <a:latin typeface="Noto Serif"/>
            </a:endParaRPr>
          </a:p>
        </p:txBody>
      </p:sp>
      <p:sp>
        <p:nvSpPr>
          <p:cNvPr id="10" name="TextBox 10">
            <a:extLst>
              <a:ext uri="{364242F2-C76E-4130-B73F-F0A0BC54EE6E}">
                <a16:creationId xmlns:a16="http://schemas.microsoft.com/office/drawing/2010/main" id="{DD6CD439-E5DF-472E-A0DE-266284419958}"/>
              </a:ext>
            </a:extLst>
          </p:cNvPr>
          <p:cNvSpPr txBox="1"/>
          <p:nvPr/>
        </p:nvSpPr>
        <p:spPr>
          <a:xfrm rot="0">
            <a:off x="7850238" y="6037507"/>
            <a:ext cx="9445522" cy="396878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l">
              <a:lnSpc>
                <a:spcPts val="3125"/>
              </a:lnSpc>
            </a:pPr>
            <a:r>
              <a:rPr dirty="0" lang="en-US" sz="1937">
                <a:solidFill>
                  <a:srgbClr val="4c4c4c"/>
                </a:solidFill>
                <a:latin typeface="Noto Serif"/>
              </a:rPr>
              <a:t/>
            </a:r>
            <a:endParaRPr dirty="0" lang="en-US" sz="1937">
              <a:solidFill>
                <a:srgbClr val="4c4c4c"/>
              </a:solidFill>
              <a:latin typeface="Noto Serif"/>
            </a:endParaRPr>
          </a:p>
        </p:txBody>
      </p:sp>
    </p:spTree>
    <p:extLst>
      <p:ext uri="{2CB4FB07-F739-44E0-96FE-AA0519FE6D61}">
        <p14:creationId xmlns:p14="http://schemas.microsoft.com/office/powerpoint/2010/main" val="1769609807916"/>
      </p:ext>
    </p:extLst>
  </p:cSld>
  <p:clrMapOvr>
    <a:masterClrMapping/>
  </p:clrMapOvr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solidFill>
            <a:schemeClr val="phClr">
              <a:shade val="95000"/>
              <a:satMod val="104999"/>
            </a:schemeClr>
          </a:solidFill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solidFill>
            <a:schemeClr val="phClr">
              <a:shade val="95000"/>
              <a:satMod val="104999"/>
            </a:schemeClr>
          </a:solidFill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2026-01-22T20:22:42Z</dcterms:created>
  <dcterms:modified xsi:type="dcterms:W3CDTF">2026-01-28T19:46:17Z</dcterms:modified>
</cp:coreProperties>
</file>